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1" roundtripDataSignature="AMtx7mhHrZK54tnRnYND2l4669qhQR32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8C67BF3-4223-48C1-BD28-E89903D4EB77}">
  <a:tblStyle styleId="{D8C67BF3-4223-48C1-BD28-E89903D4EB7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customschemas.google.com/relationships/presentationmetadata" Target="metadata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c4b17e6eb0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g3c4b17e6eb0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c49d1f9e55_0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g3c49d1f9e55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h5d2d7baf524a5fb5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h5d2d7baf524a5fb5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h5d2d7baf524a5fb5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h5d2d7baf524a5fb5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h1e66244ddf5aee8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h1e66244ddf5aee8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h1e66244ddf5aee8b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h1e66244ddf5aee8b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h1e66244ddf5aee8b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h1e66244ddf5aee8b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h1e66244ddf5aee8b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h1e66244ddf5aee8b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h5d2d7baf524a5fb5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h5d2d7baf524a5fb5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h5d2d7baf524a5fb5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h5d2d7baf524a5fb5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h1e66244ddf5aee8b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h1e66244ddf5aee8b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h5d2d7baf524a5fb5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h5d2d7baf524a5fb5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h5d2d7baf524a5fb5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h5d2d7baf524a5fb5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h5d2d7baf524a5fb5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h5d2d7baf524a5fb5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h5d2d7baf524a5fb5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h5d2d7baf524a5fb5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h5d2d7baf524a5fb5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h5d2d7baf524a5fb5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h5d2d7baf524a5fb5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h5d2d7baf524a5fb5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h3876ef70d0c0aec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h3876ef70d0c0aec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h3876ef70d0c0aec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h3876ef70d0c0aec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b26b0430d0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g3b26b0430d0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h5d2d7baf524a5fb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h5d2d7baf524a5fb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c0a952082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g3c0a952082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h5d2d7baf524a5fb5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h5d2d7baf524a5fb5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3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3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3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3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3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4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png"/><Relationship Id="rId4" Type="http://schemas.openxmlformats.org/officeDocument/2006/relationships/image" Target="../media/image10.png"/><Relationship Id="rId5" Type="http://schemas.openxmlformats.org/officeDocument/2006/relationships/image" Target="../media/image5.png"/><Relationship Id="rId6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1.png"/><Relationship Id="rId4" Type="http://schemas.openxmlformats.org/officeDocument/2006/relationships/image" Target="../media/image2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png"/><Relationship Id="rId4" Type="http://schemas.openxmlformats.org/officeDocument/2006/relationships/image" Target="../media/image3.png"/><Relationship Id="rId5" Type="http://schemas.openxmlformats.org/officeDocument/2006/relationships/image" Target="../media/image11.png"/><Relationship Id="rId6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5.png"/><Relationship Id="rId4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Relationship Id="rId4" Type="http://schemas.openxmlformats.org/officeDocument/2006/relationships/image" Target="../media/image30.png"/><Relationship Id="rId5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Relationship Id="rId4" Type="http://schemas.openxmlformats.org/officeDocument/2006/relationships/image" Target="../media/image14.png"/><Relationship Id="rId5" Type="http://schemas.openxmlformats.org/officeDocument/2006/relationships/image" Target="../media/image13.png"/><Relationship Id="rId6" Type="http://schemas.openxmlformats.org/officeDocument/2006/relationships/image" Target="../media/image15.png"/><Relationship Id="rId7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/>
        </p:nvSpPr>
        <p:spPr>
          <a:xfrm>
            <a:off x="311700" y="1813500"/>
            <a:ext cx="8520600" cy="15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900">
                <a:solidFill>
                  <a:srgbClr val="000000"/>
                </a:solidFill>
              </a:rPr>
              <a:t>딥러닝 Deep Learning </a:t>
            </a:r>
            <a:r>
              <a:rPr b="1" lang="ko" sz="2900"/>
              <a:t>입문</a:t>
            </a:r>
            <a:endParaRPr b="1" sz="29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595959"/>
                </a:solidFill>
              </a:rPr>
              <a:t>인공 신경망 ANN, </a:t>
            </a:r>
            <a:r>
              <a:rPr b="1" lang="ko" sz="2000">
                <a:solidFill>
                  <a:srgbClr val="595959"/>
                </a:solidFill>
              </a:rPr>
              <a:t>심층 신경망 DNN</a:t>
            </a:r>
            <a:endParaRPr b="1" sz="20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c4b17e6eb0_0_159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18"/>
              <a:buNone/>
            </a:pPr>
            <a:r>
              <a:rPr b="1" lang="ko"/>
              <a:t>딥</a:t>
            </a:r>
            <a:r>
              <a:rPr b="1" lang="ko"/>
              <a:t>러닝 Deep Learning</a:t>
            </a:r>
            <a:endParaRPr b="1" sz="1133">
              <a:solidFill>
                <a:schemeClr val="dk2"/>
              </a:solidFill>
            </a:endParaRPr>
          </a:p>
        </p:txBody>
      </p:sp>
      <p:sp>
        <p:nvSpPr>
          <p:cNvPr id="60" name="Google Shape;60;g3c4b17e6eb0_0_159"/>
          <p:cNvSpPr txBox="1"/>
          <p:nvPr>
            <p:ph idx="1" type="body"/>
          </p:nvPr>
        </p:nvSpPr>
        <p:spPr>
          <a:xfrm>
            <a:off x="311700" y="958305"/>
            <a:ext cx="8520600" cy="10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400">
                <a:solidFill>
                  <a:schemeClr val="dk1"/>
                </a:solidFill>
              </a:rPr>
              <a:t>딥</a:t>
            </a:r>
            <a:r>
              <a:rPr b="1" lang="ko" sz="1400">
                <a:solidFill>
                  <a:schemeClr val="dk1"/>
                </a:solidFill>
              </a:rPr>
              <a:t>러닝 (</a:t>
            </a:r>
            <a:r>
              <a:rPr b="1" lang="ko" sz="1400">
                <a:solidFill>
                  <a:schemeClr val="dk1"/>
                </a:solidFill>
              </a:rPr>
              <a:t>심층학습)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인간의 뇌 신경망 구조를 모방한 </a:t>
            </a:r>
            <a:r>
              <a:rPr lang="ko" sz="1200">
                <a:solidFill>
                  <a:schemeClr val="dk1"/>
                </a:solidFill>
              </a:rPr>
              <a:t>인공신경망(Artificial Neural Network)</a:t>
            </a:r>
            <a:r>
              <a:rPr lang="ko" sz="1100">
                <a:solidFill>
                  <a:schemeClr val="dk1"/>
                </a:solidFill>
              </a:rPr>
              <a:t>을 기반으로, 컴퓨터가 다층 구조를 통해 스스로 데이터의 특징과 패턴을 학습하는 머신러닝의 하위 분야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cxnSp>
        <p:nvCxnSpPr>
          <p:cNvPr id="61" name="Google Shape;61;g3c4b17e6eb0_0_159"/>
          <p:cNvCxnSpPr/>
          <p:nvPr/>
        </p:nvCxnSpPr>
        <p:spPr>
          <a:xfrm flipH="1" rot="10800000">
            <a:off x="343450" y="850525"/>
            <a:ext cx="8471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g3c4b17e6eb0_0_159"/>
          <p:cNvSpPr txBox="1"/>
          <p:nvPr/>
        </p:nvSpPr>
        <p:spPr>
          <a:xfrm>
            <a:off x="5479450" y="1923000"/>
            <a:ext cx="3352800" cy="28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/>
              <a:t>주요 딥 러닝 모델 유형</a:t>
            </a:r>
            <a:endParaRPr b="1"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00"/>
              <a:t>ANN (인공 신경망)</a:t>
            </a:r>
            <a:r>
              <a:rPr lang="ko" sz="900"/>
              <a:t>: 인간의 뇌 신경망을 모방한 구조로, </a:t>
            </a:r>
            <a:r>
              <a:rPr lang="ko" sz="900"/>
              <a:t>데이터의 패턴을 학습하여 예측, 분류, 패턴 인식 등에 활용</a:t>
            </a:r>
            <a:endParaRPr sz="9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00"/>
              <a:t>DNN (심층 신경망):</a:t>
            </a:r>
            <a:r>
              <a:rPr lang="ko" sz="900"/>
              <a:t> 여러 은닉층을 통해 복잡한 패턴을 학습하며 정교한 예측, 분류, 이상 탐지 등에 활용</a:t>
            </a:r>
            <a:endParaRPr sz="9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00"/>
              <a:t>CNN (합성곱 신경망):</a:t>
            </a:r>
            <a:r>
              <a:rPr lang="ko" sz="900"/>
              <a:t> 이미지 분류, 얼굴 인식, 자율주행 등 시각 데이터(이미지·영상) 처리 특화</a:t>
            </a:r>
            <a:endParaRPr sz="9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00"/>
              <a:t>RNN / LSTM (순환 신경망)</a:t>
            </a:r>
            <a:r>
              <a:rPr lang="ko" sz="900"/>
              <a:t>: 음성 인식, 기계 번역, 시계열 데이터 등 시간 순서나 연속성이 있는 데이터 처리 특화 </a:t>
            </a:r>
            <a:endParaRPr sz="9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00"/>
              <a:t>트랜스포머 (Transformer)</a:t>
            </a:r>
            <a:r>
              <a:rPr lang="ko" sz="900"/>
              <a:t>: GPT와 같은 대규모 언어 모델(LLM)과 자연어 처리(NLP)의 핵심이 되는 고성능 구조 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pic>
        <p:nvPicPr>
          <p:cNvPr id="63" name="Google Shape;63;g3c4b17e6eb0_0_159" title="인공지능·머신러닝·딥러닝 인포그래픽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018200"/>
            <a:ext cx="5174650" cy="285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c49d1f9e55_0_307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18"/>
              <a:buNone/>
            </a:pPr>
            <a:r>
              <a:rPr b="1" lang="ko"/>
              <a:t>딥러닝을 위한 인공 신경망 입문</a:t>
            </a:r>
            <a:endParaRPr b="1" sz="1133">
              <a:solidFill>
                <a:schemeClr val="dk2"/>
              </a:solidFill>
            </a:endParaRPr>
          </a:p>
        </p:txBody>
      </p:sp>
      <p:sp>
        <p:nvSpPr>
          <p:cNvPr id="69" name="Google Shape;69;g3c49d1f9e55_0_307"/>
          <p:cNvSpPr txBox="1"/>
          <p:nvPr>
            <p:ph idx="1" type="body"/>
          </p:nvPr>
        </p:nvSpPr>
        <p:spPr>
          <a:xfrm>
            <a:off x="311700" y="958307"/>
            <a:ext cx="8520600" cy="40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400">
                <a:solidFill>
                  <a:schemeClr val="dk1"/>
                </a:solidFill>
              </a:rPr>
              <a:t>인공신경망의 발전 단계와 용어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1. </a:t>
            </a:r>
            <a:r>
              <a:rPr lang="ko" sz="1100">
                <a:solidFill>
                  <a:schemeClr val="dk1"/>
                </a:solidFill>
              </a:rPr>
              <a:t>퍼셉트론</a:t>
            </a:r>
            <a:r>
              <a:rPr lang="ko" sz="900"/>
              <a:t> Perceptron</a:t>
            </a:r>
            <a:endParaRPr sz="900"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2. </a:t>
            </a:r>
            <a:r>
              <a:rPr lang="ko" sz="1100">
                <a:solidFill>
                  <a:schemeClr val="dk1"/>
                </a:solidFill>
              </a:rPr>
              <a:t>다층 퍼셉트론 MLP </a:t>
            </a:r>
            <a:r>
              <a:rPr lang="ko" sz="900"/>
              <a:t>Multi Layer Perceptron</a:t>
            </a:r>
            <a:endParaRPr sz="900"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3. </a:t>
            </a:r>
            <a:r>
              <a:rPr lang="ko" sz="1100">
                <a:solidFill>
                  <a:schemeClr val="dk1"/>
                </a:solidFill>
              </a:rPr>
              <a:t>인공 신경망 </a:t>
            </a:r>
            <a:r>
              <a:rPr lang="ko" sz="1100">
                <a:solidFill>
                  <a:schemeClr val="dk1"/>
                </a:solidFill>
              </a:rPr>
              <a:t>ANN </a:t>
            </a:r>
            <a:r>
              <a:rPr lang="ko" sz="900"/>
              <a:t>Artificial Neural Network</a:t>
            </a:r>
            <a:endParaRPr sz="900"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4. </a:t>
            </a:r>
            <a:r>
              <a:rPr lang="ko" sz="1100">
                <a:solidFill>
                  <a:schemeClr val="dk1"/>
                </a:solidFill>
              </a:rPr>
              <a:t>심층 신경망 </a:t>
            </a:r>
            <a:r>
              <a:rPr lang="ko" sz="1100">
                <a:solidFill>
                  <a:schemeClr val="dk1"/>
                </a:solidFill>
              </a:rPr>
              <a:t>DNN </a:t>
            </a:r>
            <a:r>
              <a:rPr lang="ko" sz="900"/>
              <a:t>Deep Neural Network</a:t>
            </a:r>
            <a:endParaRPr sz="900"/>
          </a:p>
        </p:txBody>
      </p:sp>
      <p:cxnSp>
        <p:nvCxnSpPr>
          <p:cNvPr id="70" name="Google Shape;70;g3c49d1f9e55_0_307"/>
          <p:cNvCxnSpPr/>
          <p:nvPr/>
        </p:nvCxnSpPr>
        <p:spPr>
          <a:xfrm flipH="1" rot="10800000">
            <a:off x="343450" y="850525"/>
            <a:ext cx="8471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71" name="Google Shape;71;g3c49d1f9e55_0_3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2247" y="3068772"/>
            <a:ext cx="4042900" cy="194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h5d2d7baf524a5fb5_0_19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18"/>
              <a:buNone/>
            </a:pPr>
            <a:r>
              <a:rPr b="1" lang="ko"/>
              <a:t>퍼셉트론 </a:t>
            </a:r>
            <a:r>
              <a:rPr b="1" lang="ko" sz="2244">
                <a:solidFill>
                  <a:schemeClr val="dk2"/>
                </a:solidFill>
              </a:rPr>
              <a:t>Perceptron</a:t>
            </a:r>
            <a:endParaRPr b="1" sz="577">
              <a:solidFill>
                <a:schemeClr val="dk2"/>
              </a:solidFill>
            </a:endParaRPr>
          </a:p>
        </p:txBody>
      </p:sp>
      <p:sp>
        <p:nvSpPr>
          <p:cNvPr id="77" name="Google Shape;77;h5d2d7baf524a5fb5_0_19"/>
          <p:cNvSpPr txBox="1"/>
          <p:nvPr>
            <p:ph idx="1" type="body"/>
          </p:nvPr>
        </p:nvSpPr>
        <p:spPr>
          <a:xfrm>
            <a:off x="311700" y="958307"/>
            <a:ext cx="8520600" cy="40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pc="-5" sz="1100">
                <a:solidFill>
                  <a:schemeClr val="dk1"/>
                </a:solidFill>
              </a:rPr>
              <a:t>퍼셉트론(Percpetron)은 </a:t>
            </a:r>
            <a:r>
              <a:rPr b="1" lang="ko" spc="-5" sz="1100">
                <a:solidFill>
                  <a:schemeClr val="dk1"/>
                </a:solidFill>
              </a:rPr>
              <a:t>가장 기본적인 형태의 인공신경망 모델</a:t>
            </a:r>
            <a:r>
              <a:rPr lang="ko" spc="-5" sz="1100">
                <a:solidFill>
                  <a:schemeClr val="dk1"/>
                </a:solidFill>
              </a:rPr>
              <a:t>로, 인간의 신경세포(neuron)의 동작 방식을 단순화하여 수학적으로 모델링한 것이다.</a:t>
            </a:r>
            <a:endParaRPr spc="-5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pc="-5" sz="1100">
                <a:solidFill>
                  <a:schemeClr val="dk1"/>
                </a:solidFill>
              </a:rPr>
              <a:t>1957년 </a:t>
            </a:r>
            <a:r>
              <a:rPr b="1" lang="ko" spc="-5" sz="1100">
                <a:solidFill>
                  <a:schemeClr val="dk1"/>
                </a:solidFill>
              </a:rPr>
              <a:t>Frank Rosenblatt</a:t>
            </a:r>
            <a:r>
              <a:rPr lang="ko" spc="-5" sz="1100">
                <a:solidFill>
                  <a:schemeClr val="dk1"/>
                </a:solidFill>
              </a:rPr>
              <a:t>에 의해 제안되었으며, 입력 데이터를 기반으로 </a:t>
            </a:r>
            <a:r>
              <a:rPr b="1" lang="ko" spc="-5" sz="1100">
                <a:solidFill>
                  <a:schemeClr val="dk1"/>
                </a:solidFill>
              </a:rPr>
              <a:t>이진 분류(binary classification)</a:t>
            </a:r>
            <a:r>
              <a:rPr lang="ko" spc="-5" sz="1100">
                <a:solidFill>
                  <a:schemeClr val="dk1"/>
                </a:solidFill>
              </a:rPr>
              <a:t>을 수행하는 </a:t>
            </a:r>
            <a:r>
              <a:rPr b="1" lang="ko" spc="-5" sz="1100">
                <a:solidFill>
                  <a:schemeClr val="dk1"/>
                </a:solidFill>
              </a:rPr>
              <a:t>선형 분류기(linear classifier)</a:t>
            </a:r>
            <a:r>
              <a:rPr lang="ko" spc="-5" sz="1100">
                <a:solidFill>
                  <a:schemeClr val="dk1"/>
                </a:solidFill>
              </a:rPr>
              <a:t>로 사용된다.</a:t>
            </a:r>
            <a:endParaRPr spc="-5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pc="-5" sz="1100">
                <a:solidFill>
                  <a:schemeClr val="dk1"/>
                </a:solidFill>
              </a:rPr>
              <a:t>퍼셉트론은 여러 개의 입력값을 받아 가중치를 곱한 뒤 모두 더하고, 활성화 함수를 통해 최종 출력값을 결정한다.</a:t>
            </a:r>
            <a:br>
              <a:rPr lang="ko" spc="-5" sz="1100">
                <a:solidFill>
                  <a:schemeClr val="dk1"/>
                </a:solidFill>
              </a:rPr>
            </a:br>
            <a:r>
              <a:rPr lang="ko" spc="-5" sz="1100">
                <a:solidFill>
                  <a:schemeClr val="dk1"/>
                </a:solidFill>
              </a:rPr>
              <a:t>이 과정은 생물학적 뉴런에서 신호가 전달되는 방식과 유사하다.</a:t>
            </a:r>
            <a:endParaRPr spc="-5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cxnSp>
        <p:nvCxnSpPr>
          <p:cNvPr id="78" name="Google Shape;78;h5d2d7baf524a5fb5_0_19"/>
          <p:cNvCxnSpPr/>
          <p:nvPr/>
        </p:nvCxnSpPr>
        <p:spPr>
          <a:xfrm flipH="1" rot="10800000">
            <a:off x="343450" y="850525"/>
            <a:ext cx="8471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79" name="Google Shape;79;h5d2d7baf524a5fb5_0_19" title="image (3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450" y="2655286"/>
            <a:ext cx="5622549" cy="224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h5d2d7baf524a5fb5_0_19" title="스크린샷 2026-10-25 오후 1.15.3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45728" y="2486349"/>
            <a:ext cx="2162400" cy="90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h5d2d7baf524a5fb5_0_19" title="스크린샷 2026-10-25 오후 1.17.5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45728" y="3404659"/>
            <a:ext cx="1395541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h5d2d7baf524a5fb5_0_19"/>
          <p:cNvSpPr txBox="1"/>
          <p:nvPr/>
        </p:nvSpPr>
        <p:spPr>
          <a:xfrm>
            <a:off x="6062940" y="4511283"/>
            <a:ext cx="2791800" cy="4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퍼셉트론에서는 보통 </a:t>
            </a:r>
            <a:r>
              <a:rPr b="1" lang="ko" sz="1000"/>
              <a:t>계단 함수(step function)</a:t>
            </a:r>
            <a:r>
              <a:rPr lang="ko" sz="1000"/>
              <a:t>를 사용하여 결과를 0 또는 1로 출력</a:t>
            </a:r>
            <a:endParaRPr sz="1000"/>
          </a:p>
        </p:txBody>
      </p:sp>
      <p:pic>
        <p:nvPicPr>
          <p:cNvPr id="83" name="Google Shape;83;h5d2d7baf524a5fb5_0_19" title="스크린샷 2026-10-25 오후 2.10.28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45728" y="4037233"/>
            <a:ext cx="2393208" cy="44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h5d2d7baf524a5fb5_0_46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18"/>
              <a:buNone/>
            </a:pPr>
            <a:r>
              <a:rPr b="1" lang="ko"/>
              <a:t>학습 알고리즘</a:t>
            </a:r>
            <a:endParaRPr b="1" sz="1133">
              <a:solidFill>
                <a:schemeClr val="dk2"/>
              </a:solidFill>
            </a:endParaRPr>
          </a:p>
        </p:txBody>
      </p:sp>
      <p:cxnSp>
        <p:nvCxnSpPr>
          <p:cNvPr id="89" name="Google Shape;89;h5d2d7baf524a5fb5_0_46"/>
          <p:cNvCxnSpPr/>
          <p:nvPr/>
        </p:nvCxnSpPr>
        <p:spPr>
          <a:xfrm flipH="1" rot="10800000">
            <a:off x="343450" y="850525"/>
            <a:ext cx="8471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90" name="Google Shape;90;h5d2d7baf524a5fb5_0_46" title="스크린샷 2026-10-25 오전 12.50.2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450" y="1012700"/>
            <a:ext cx="5529162" cy="3980076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h5d2d7baf524a5fb5_0_46"/>
          <p:cNvSpPr txBox="1"/>
          <p:nvPr/>
        </p:nvSpPr>
        <p:spPr>
          <a:xfrm>
            <a:off x="5027075" y="4420175"/>
            <a:ext cx="3788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666666"/>
                </a:solidFill>
              </a:rPr>
              <a:t>Learning rate를 공식으로 표기하거나 수치로 나타낼때는 그리스 문자인 eta를 사용한다. </a:t>
            </a:r>
            <a:endParaRPr sz="8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666666"/>
                </a:solidFill>
              </a:rPr>
              <a:t>eta는 η 이런식으로 표기를 하여 사용하는 그리스 문자 H의 소문자이며 오류의 양을 추정하는 데 사용. 열역학적 효율이나 전자기학 등에서 효율(Efficiency)을 나타내는 기호</a:t>
            </a:r>
            <a:endParaRPr sz="800">
              <a:solidFill>
                <a:srgbClr val="666666"/>
              </a:solidFill>
            </a:endParaRPr>
          </a:p>
        </p:txBody>
      </p:sp>
      <p:pic>
        <p:nvPicPr>
          <p:cNvPr id="92" name="Google Shape;92;h5d2d7baf524a5fb5_0_46" title="KakaoTalk_20261026_075005898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28575" y="1394750"/>
            <a:ext cx="3903726" cy="2575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h1e66244ddf5aee8b_0_6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18"/>
              <a:buNone/>
            </a:pPr>
            <a:r>
              <a:rPr b="1" lang="ko"/>
              <a:t>퍼셉트론의 특징과 한계</a:t>
            </a:r>
            <a:endParaRPr b="1" sz="1133">
              <a:solidFill>
                <a:schemeClr val="dk2"/>
              </a:solidFill>
            </a:endParaRPr>
          </a:p>
        </p:txBody>
      </p:sp>
      <p:cxnSp>
        <p:nvCxnSpPr>
          <p:cNvPr id="98" name="Google Shape;98;h1e66244ddf5aee8b_0_6"/>
          <p:cNvCxnSpPr/>
          <p:nvPr/>
        </p:nvCxnSpPr>
        <p:spPr>
          <a:xfrm flipH="1" rot="10800000">
            <a:off x="343450" y="850525"/>
            <a:ext cx="8471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" name="Google Shape;99;h1e66244ddf5aee8b_0_6"/>
          <p:cNvSpPr txBox="1"/>
          <p:nvPr>
            <p:ph idx="1" type="body"/>
          </p:nvPr>
        </p:nvSpPr>
        <p:spPr>
          <a:xfrm>
            <a:off x="311700" y="958307"/>
            <a:ext cx="8520600" cy="40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300">
                <a:solidFill>
                  <a:schemeClr val="dk1"/>
                </a:solidFill>
              </a:rPr>
              <a:t>퍼셉트론 특징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단층 신경망 구조, 이진 분류 문제 해결 가능, 선형 분류 모델, 계산 구조가 단순함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300">
                <a:solidFill>
                  <a:schemeClr val="dk1"/>
                </a:solidFill>
              </a:rPr>
              <a:t>퍼셉트론의 한계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가장 대표적인 문제는 선형 분리(linearly separable) 문제만 해결할 수 있다는 것이다. 즉, 하나의 직선(또는 초평면)으로 데이터를 분리할 수 있는 경우에만 학습이 가능하다. 예를 들어 </a:t>
            </a:r>
            <a:r>
              <a:rPr b="1" lang="ko" sz="1100">
                <a:solidFill>
                  <a:schemeClr val="dk1"/>
                </a:solidFill>
              </a:rPr>
              <a:t>XOR 문제는 선형적으로 분리할 수 없기 때문</a:t>
            </a:r>
            <a:r>
              <a:rPr lang="ko" sz="1100">
                <a:solidFill>
                  <a:schemeClr val="dk1"/>
                </a:solidFill>
              </a:rPr>
              <a:t>에 단일 퍼셉트론으로는 해결할 수 없다.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이러한 한계를 해결하기 위해 등장한 모델이 다층 퍼셉트론(MLP)이다.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00" name="Google Shape;100;h1e66244ddf5aee8b_0_6" title="스크린샷 2026-10-25 오후 1.53.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6600" y="3042700"/>
            <a:ext cx="4595701" cy="196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h1e66244ddf5aee8b_0_6" title="image (5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05349" y="3111850"/>
            <a:ext cx="2016775" cy="1830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h1e66244ddf5aee8b_0_6" title="스크린샷 2026-10-25 오후 2.01.14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2075" y="3042699"/>
            <a:ext cx="793375" cy="99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h1e66244ddf5aee8b_0_6" title="스크린샷 2026-10-25 오후 2.01.26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3088" y="4039250"/>
            <a:ext cx="751341" cy="97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h1e66244ddf5aee8b_0_23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18"/>
              <a:buNone/>
            </a:pPr>
            <a:r>
              <a:rPr b="1" lang="ko"/>
              <a:t>다층 </a:t>
            </a:r>
            <a:r>
              <a:rPr b="1" lang="ko"/>
              <a:t>퍼셉트론 MLP </a:t>
            </a:r>
            <a:r>
              <a:rPr b="1" lang="ko" sz="2244">
                <a:solidFill>
                  <a:schemeClr val="dk2"/>
                </a:solidFill>
              </a:rPr>
              <a:t>Multi Layer Perceptron</a:t>
            </a:r>
            <a:endParaRPr b="1" sz="577">
              <a:solidFill>
                <a:schemeClr val="dk2"/>
              </a:solidFill>
            </a:endParaRPr>
          </a:p>
        </p:txBody>
      </p:sp>
      <p:sp>
        <p:nvSpPr>
          <p:cNvPr id="109" name="Google Shape;109;h1e66244ddf5aee8b_0_23"/>
          <p:cNvSpPr txBox="1"/>
          <p:nvPr>
            <p:ph idx="1" type="body"/>
          </p:nvPr>
        </p:nvSpPr>
        <p:spPr>
          <a:xfrm>
            <a:off x="311700" y="958307"/>
            <a:ext cx="8520600" cy="40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여러 개의 퍼셉트론(인공 뉴런)을 층(Layer) 형태로 쌓아 올린 가장 기본적인 형태의 피드포워드(순전파) 인공신경망. 이런층을 </a:t>
            </a:r>
            <a:r>
              <a:rPr b="1" lang="ko" sz="1100">
                <a:solidFill>
                  <a:schemeClr val="dk1"/>
                </a:solidFill>
              </a:rPr>
              <a:t>은닉층</a:t>
            </a:r>
            <a:r>
              <a:rPr lang="ko" sz="1100">
                <a:solidFill>
                  <a:schemeClr val="dk1"/>
                </a:solidFill>
              </a:rPr>
              <a:t>이라고 함.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단일 층만으로는 해결할 수 없었던 비선형 문제를 풀 수 있도록 설계. 심층신경망의 모태가 된 모델 구조.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cxnSp>
        <p:nvCxnSpPr>
          <p:cNvPr id="110" name="Google Shape;110;h1e66244ddf5aee8b_0_23"/>
          <p:cNvCxnSpPr/>
          <p:nvPr/>
        </p:nvCxnSpPr>
        <p:spPr>
          <a:xfrm flipH="1" rot="10800000">
            <a:off x="343450" y="850525"/>
            <a:ext cx="8471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11" name="Google Shape;111;h1e66244ddf5aee8b_0_23" title="image (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450" y="2007554"/>
            <a:ext cx="4577800" cy="186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h1e66244ddf5aee8b_0_23" title="image (6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08321" y="1787200"/>
            <a:ext cx="3706826" cy="272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h1e66244ddf5aee8b_0_45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18"/>
              <a:buNone/>
            </a:pPr>
            <a:r>
              <a:rPr b="1" lang="ko"/>
              <a:t>다층 퍼셉트론 </a:t>
            </a:r>
            <a:r>
              <a:rPr b="1" lang="ko"/>
              <a:t>구조와 특징</a:t>
            </a:r>
            <a:r>
              <a:rPr b="1" lang="ko"/>
              <a:t> </a:t>
            </a:r>
            <a:endParaRPr b="1" sz="577">
              <a:solidFill>
                <a:schemeClr val="dk2"/>
              </a:solidFill>
            </a:endParaRPr>
          </a:p>
        </p:txBody>
      </p:sp>
      <p:sp>
        <p:nvSpPr>
          <p:cNvPr id="118" name="Google Shape;118;h1e66244ddf5aee8b_0_45"/>
          <p:cNvSpPr txBox="1"/>
          <p:nvPr>
            <p:ph idx="1" type="body"/>
          </p:nvPr>
        </p:nvSpPr>
        <p:spPr>
          <a:xfrm>
            <a:off x="311700" y="958307"/>
            <a:ext cx="8520600" cy="40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300">
                <a:solidFill>
                  <a:schemeClr val="dk1"/>
                </a:solidFill>
              </a:rPr>
              <a:t>1. 구조 (Architecture)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다층 퍼셉트론은 크게 세 가지 층으로 구성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ko" sz="1100">
                <a:solidFill>
                  <a:schemeClr val="dk1"/>
                </a:solidFill>
              </a:rPr>
              <a:t>입력층 (Input Layer)</a:t>
            </a:r>
            <a:r>
              <a:rPr lang="ko" sz="1100">
                <a:solidFill>
                  <a:schemeClr val="dk1"/>
                </a:solidFill>
              </a:rPr>
              <a:t>: 외부로부터 원본 데이터나 특성(Feature)을 받아들이는 첫 번째 층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ko" sz="1100">
                <a:solidFill>
                  <a:schemeClr val="dk1"/>
                </a:solidFill>
              </a:rPr>
              <a:t>은닉층 (Hidden Layer)</a:t>
            </a:r>
            <a:r>
              <a:rPr lang="ko" sz="1100">
                <a:solidFill>
                  <a:schemeClr val="dk1"/>
                </a:solidFill>
              </a:rPr>
              <a:t>: 입력층과 출력층 사이에 존재하는 중간 층으로, 1개 이상 존재할 수 있으며 데이터의 추상적인 특징과 복잡한 비선형 패턴을 학습 </a:t>
            </a:r>
            <a:r>
              <a:rPr lang="ko" sz="1000">
                <a:solidFill>
                  <a:srgbClr val="666666"/>
                </a:solidFill>
              </a:rPr>
              <a:t>(은닉층이 2개 이상인 신경망을 심층 신경망(DNN)이라고 부름)</a:t>
            </a:r>
            <a:endParaRPr sz="1000">
              <a:solidFill>
                <a:srgbClr val="666666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ko" sz="1100">
                <a:solidFill>
                  <a:schemeClr val="dk1"/>
                </a:solidFill>
              </a:rPr>
              <a:t>출력층 (Output Layer)</a:t>
            </a:r>
            <a:r>
              <a:rPr lang="ko" sz="1100">
                <a:solidFill>
                  <a:schemeClr val="dk1"/>
                </a:solidFill>
              </a:rPr>
              <a:t>: 은닉층의 연산 결과를 바탕으로 최종 예측값이나 분류 결과를 출력하는 마지막 층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300">
                <a:solidFill>
                  <a:schemeClr val="dk1"/>
                </a:solidFill>
              </a:rPr>
              <a:t>2. 주요 특징 및 핵심 개념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ko" sz="1100">
                <a:solidFill>
                  <a:schemeClr val="dk1"/>
                </a:solidFill>
              </a:rPr>
              <a:t>비선형성 (Non-linearity)</a:t>
            </a:r>
            <a:r>
              <a:rPr lang="ko" sz="1100">
                <a:solidFill>
                  <a:schemeClr val="dk1"/>
                </a:solidFill>
              </a:rPr>
              <a:t>: 각 뉴런은 입력값의 가중합에 비선형 활성화 함수(계단함수, ReLU, 시그모이드 등)를 적용. 이를 통해 단층 퍼셉트론이 풀지 못했던 XOR 게이트 같은 비선형 분류 문제를 해결할 수 있음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ko" sz="1100">
                <a:solidFill>
                  <a:schemeClr val="dk1"/>
                </a:solidFill>
              </a:rPr>
              <a:t>순전파 (Feedforward)</a:t>
            </a:r>
            <a:r>
              <a:rPr lang="ko" sz="1100">
                <a:solidFill>
                  <a:schemeClr val="dk1"/>
                </a:solidFill>
              </a:rPr>
              <a:t>: 데이터가 입력층에서 시작해 은닉층을 거쳐 출력층 방향으로 한 방향(루프 없이)으로만 흘러감.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ko" sz="1100">
                <a:solidFill>
                  <a:schemeClr val="dk1"/>
                </a:solidFill>
              </a:rPr>
              <a:t>역전파 알고리즘 (Backpropagation)</a:t>
            </a:r>
            <a:r>
              <a:rPr lang="ko" sz="1100">
                <a:solidFill>
                  <a:schemeClr val="dk1"/>
                </a:solidFill>
              </a:rPr>
              <a:t>: 출력 결과에서 발생한 오차를 다시 뒤쪽 층으로 거꾸로 전파하면서, 모든 층의 가중치와 편향을 효율적으로 학습·수정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cxnSp>
        <p:nvCxnSpPr>
          <p:cNvPr id="119" name="Google Shape;119;h1e66244ddf5aee8b_0_45"/>
          <p:cNvCxnSpPr/>
          <p:nvPr/>
        </p:nvCxnSpPr>
        <p:spPr>
          <a:xfrm flipH="1" rot="10800000">
            <a:off x="343450" y="850525"/>
            <a:ext cx="8471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h1e66244ddf5aee8b_0_54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18"/>
              <a:buNone/>
            </a:pPr>
            <a:r>
              <a:rPr b="1" lang="ko"/>
              <a:t>다층 퍼셉트론 </a:t>
            </a:r>
            <a:r>
              <a:rPr b="1" lang="ko"/>
              <a:t>학습 방법</a:t>
            </a:r>
            <a:endParaRPr b="1" sz="577">
              <a:solidFill>
                <a:schemeClr val="dk2"/>
              </a:solidFill>
            </a:endParaRPr>
          </a:p>
        </p:txBody>
      </p:sp>
      <p:sp>
        <p:nvSpPr>
          <p:cNvPr id="125" name="Google Shape;125;h1e66244ddf5aee8b_0_54"/>
          <p:cNvSpPr txBox="1"/>
          <p:nvPr>
            <p:ph idx="1" type="body"/>
          </p:nvPr>
        </p:nvSpPr>
        <p:spPr>
          <a:xfrm>
            <a:off x="311700" y="958300"/>
            <a:ext cx="8520600" cy="33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순전파(Feedforward)</a:t>
            </a:r>
            <a:r>
              <a:rPr lang="ko" sz="1100">
                <a:solidFill>
                  <a:schemeClr val="dk1"/>
                </a:solidFill>
              </a:rPr>
              <a:t>와 </a:t>
            </a:r>
            <a:r>
              <a:rPr b="1" lang="ko" sz="1100">
                <a:solidFill>
                  <a:schemeClr val="dk1"/>
                </a:solidFill>
              </a:rPr>
              <a:t>역전파(Backpropagation)</a:t>
            </a:r>
            <a:r>
              <a:rPr lang="ko" sz="1100">
                <a:solidFill>
                  <a:schemeClr val="dk1"/>
                </a:solidFill>
              </a:rPr>
              <a:t>라는 두 가지 핵심 과정을 반복하며 가중치를 최적화하는 방식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100">
                <a:solidFill>
                  <a:schemeClr val="dk1"/>
                </a:solidFill>
              </a:rPr>
              <a:t>1. 순전파(Forward Propagation)</a:t>
            </a:r>
            <a:br>
              <a:rPr lang="ko" sz="1100">
                <a:solidFill>
                  <a:schemeClr val="dk1"/>
                </a:solidFill>
              </a:rPr>
            </a:br>
            <a:r>
              <a:rPr lang="ko" sz="1100">
                <a:solidFill>
                  <a:schemeClr val="dk1"/>
                </a:solidFill>
              </a:rPr>
              <a:t>입력 데이터가 신경망을 통과하며 예측값을 계산한다.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100">
                <a:solidFill>
                  <a:schemeClr val="dk1"/>
                </a:solidFill>
              </a:rPr>
              <a:t>2. 오차 계산(Loss Calculation)</a:t>
            </a:r>
            <a:br>
              <a:rPr lang="ko" sz="1100">
                <a:solidFill>
                  <a:schemeClr val="dk1"/>
                </a:solidFill>
              </a:rPr>
            </a:br>
            <a:r>
              <a:rPr lang="ko" sz="1100">
                <a:solidFill>
                  <a:schemeClr val="dk1"/>
                </a:solidFill>
              </a:rPr>
              <a:t>예측값과 실제값의 차이를 계산한다.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3. 역전파(Backpropagation)</a:t>
            </a:r>
            <a:br>
              <a:rPr lang="ko" sz="1100">
                <a:solidFill>
                  <a:schemeClr val="dk1"/>
                </a:solidFill>
              </a:rPr>
            </a:br>
            <a:r>
              <a:rPr lang="ko" sz="1100">
                <a:solidFill>
                  <a:schemeClr val="dk1"/>
                </a:solidFill>
              </a:rPr>
              <a:t>오차를 출력층에서 입력층 방향으로 전달하며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각 가중치의 기울기를 계산한다.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100">
                <a:solidFill>
                  <a:schemeClr val="dk1"/>
                </a:solidFill>
              </a:rPr>
              <a:t>4. 가중치 업데이트(Gradient Descent)</a:t>
            </a:r>
            <a:br>
              <a:rPr lang="ko" sz="1100">
                <a:solidFill>
                  <a:schemeClr val="dk1"/>
                </a:solidFill>
              </a:rPr>
            </a:br>
            <a:r>
              <a:rPr lang="ko" sz="1100">
                <a:solidFill>
                  <a:schemeClr val="dk1"/>
                </a:solidFill>
              </a:rPr>
              <a:t>계산된 기울기를 이용하여 가중치를 업데이트한다.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이 과정을 반복하면서 모델의 성능이 개선된다.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cxnSp>
        <p:nvCxnSpPr>
          <p:cNvPr id="126" name="Google Shape;126;h1e66244ddf5aee8b_0_54"/>
          <p:cNvCxnSpPr/>
          <p:nvPr/>
        </p:nvCxnSpPr>
        <p:spPr>
          <a:xfrm flipH="1" rot="10800000">
            <a:off x="343450" y="850525"/>
            <a:ext cx="8471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27" name="Google Shape;127;h1e66244ddf5aee8b_0_54" title="스크린샷 2026-10-25 오후 2.29.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1900" y="1375842"/>
            <a:ext cx="2786251" cy="76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h1e66244ddf5aee8b_0_54" title="스크린샷 2026-10-25 오후 2.29.4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87805" y="3540925"/>
            <a:ext cx="3644351" cy="1295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h1e66244ddf5aee8b_0_54" title="스크린샷 2026-10-25 오후 2.44.1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30150" y="2242304"/>
            <a:ext cx="3469676" cy="71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h5d2d7baf524a5fb5_0_121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18"/>
              <a:buNone/>
            </a:pPr>
            <a:r>
              <a:rPr b="1" lang="ko"/>
              <a:t>인공 신경망 ANN</a:t>
            </a:r>
            <a:endParaRPr b="1" sz="1133">
              <a:solidFill>
                <a:schemeClr val="dk2"/>
              </a:solidFill>
            </a:endParaRPr>
          </a:p>
        </p:txBody>
      </p:sp>
      <p:cxnSp>
        <p:nvCxnSpPr>
          <p:cNvPr id="135" name="Google Shape;135;h5d2d7baf524a5fb5_0_121"/>
          <p:cNvCxnSpPr/>
          <p:nvPr/>
        </p:nvCxnSpPr>
        <p:spPr>
          <a:xfrm flipH="1" rot="10800000">
            <a:off x="343450" y="850525"/>
            <a:ext cx="8471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6" name="Google Shape;136;h5d2d7baf524a5fb5_0_121"/>
          <p:cNvSpPr txBox="1"/>
          <p:nvPr/>
        </p:nvSpPr>
        <p:spPr>
          <a:xfrm>
            <a:off x="343625" y="934142"/>
            <a:ext cx="8471700" cy="38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신경망이란, 인간 뇌의 생물학적 특성인 신경 세포, 즉 뉴런neuron의 연결 구조를 말</a:t>
            </a:r>
            <a:r>
              <a:rPr lang="ko" sz="1100"/>
              <a:t>함</a:t>
            </a:r>
            <a:r>
              <a:rPr b="0" i="0" lang="ko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인간의 뇌에는 약 천억 개의 뉴런이 있</a:t>
            </a:r>
            <a:r>
              <a:rPr lang="ko" sz="1100"/>
              <a:t>으며 </a:t>
            </a:r>
            <a:r>
              <a:rPr b="0" i="0" lang="ko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하나의 뉴런이 다른 뉴런으로부터 신호를 받으면 또 다른 뉴런에 전달하는 방식으로 문제를 인식하고 처리</a:t>
            </a:r>
            <a:r>
              <a:rPr lang="ko" sz="1100"/>
              <a:t>함.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이런 전달 방식을 컴퓨터로 처리할 수 있도록 구현한 것</a:t>
            </a:r>
            <a:r>
              <a:rPr lang="ko" sz="1100"/>
              <a:t>을</a:t>
            </a:r>
            <a:r>
              <a:rPr b="0" i="0" lang="ko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ko" sz="1100" u="none" cap="none" strike="noStrike">
                <a:solidFill>
                  <a:srgbClr val="000000"/>
                </a:solidFill>
              </a:rPr>
              <a:t>인공 신경망</a:t>
            </a:r>
            <a:r>
              <a:rPr b="1" baseline="30000" i="0" lang="ko" sz="1100" u="none" cap="none" strike="noStrike">
                <a:solidFill>
                  <a:srgbClr val="000000"/>
                </a:solidFill>
              </a:rPr>
              <a:t>artificial neural network</a:t>
            </a:r>
            <a:r>
              <a:rPr lang="ko" sz="1100"/>
              <a:t> 이라고 부름. 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ANN(Artificial Neural Network)은 인간의 신경망 구조를 모방하여 만든 머신러닝 모델의 총칭으로서 특정 하나의 모델을 의미하는 것이 아니라 신경망 기반 모델 전체를 포함하는 개념이다.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h5d2d7baf524a5fb5_0_1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7675" y="2066125"/>
            <a:ext cx="3063600" cy="272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h5d2d7baf524a5fb5_0_128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18"/>
              <a:buNone/>
            </a:pPr>
            <a:r>
              <a:rPr b="1" lang="ko"/>
              <a:t>심층</a:t>
            </a:r>
            <a:r>
              <a:rPr b="1" lang="ko"/>
              <a:t> 신경망 DNN</a:t>
            </a:r>
            <a:endParaRPr b="1" sz="1133">
              <a:solidFill>
                <a:schemeClr val="dk2"/>
              </a:solidFill>
            </a:endParaRPr>
          </a:p>
        </p:txBody>
      </p:sp>
      <p:cxnSp>
        <p:nvCxnSpPr>
          <p:cNvPr id="143" name="Google Shape;143;h5d2d7baf524a5fb5_0_128"/>
          <p:cNvCxnSpPr/>
          <p:nvPr/>
        </p:nvCxnSpPr>
        <p:spPr>
          <a:xfrm flipH="1" rot="10800000">
            <a:off x="343450" y="850525"/>
            <a:ext cx="8471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4" name="Google Shape;144;h5d2d7baf524a5fb5_0_128"/>
          <p:cNvSpPr txBox="1"/>
          <p:nvPr/>
        </p:nvSpPr>
        <p:spPr>
          <a:xfrm>
            <a:off x="343625" y="934142"/>
            <a:ext cx="8471700" cy="38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인공 신경망에서 여러 입력을 처리해 하나의 결과로 출력하는 </a:t>
            </a:r>
            <a:r>
              <a:rPr lang="ko" sz="1100"/>
              <a:t>가장 고전적인 모델이</a:t>
            </a:r>
            <a:r>
              <a:rPr b="0" i="0" lang="ko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ko" sz="1100" u="none" cap="none" strike="noStrike">
                <a:solidFill>
                  <a:srgbClr val="000000"/>
                </a:solidFill>
              </a:rPr>
              <a:t>퍼셉트론</a:t>
            </a:r>
            <a:r>
              <a:rPr b="1" baseline="30000" i="0" lang="ko" sz="1100" u="none" cap="none" strike="noStrike">
                <a:solidFill>
                  <a:srgbClr val="000000"/>
                </a:solidFill>
              </a:rPr>
              <a:t>perceptron</a:t>
            </a:r>
            <a:r>
              <a:rPr lang="ko" sz="1100"/>
              <a:t>임. 또한 복잡한 문제를 해결하기 위해 은닉층을 추가하는 </a:t>
            </a:r>
            <a:r>
              <a:rPr b="1" lang="ko" sz="1100"/>
              <a:t>다층 퍼셉트론</a:t>
            </a:r>
            <a:r>
              <a:rPr b="1" baseline="30000" lang="ko" sz="1100">
                <a:solidFill>
                  <a:schemeClr val="dk1"/>
                </a:solidFill>
              </a:rPr>
              <a:t>ML Multi Layer Perceptron</a:t>
            </a:r>
            <a:r>
              <a:rPr lang="ko" sz="1100"/>
              <a:t>이 등장하였으며 이렇게 </a:t>
            </a:r>
            <a:r>
              <a:rPr b="0" i="0" lang="ko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여러 층</a:t>
            </a:r>
            <a:r>
              <a:rPr lang="ko" sz="1100"/>
              <a:t>이</a:t>
            </a:r>
            <a:r>
              <a:rPr b="0" i="0" lang="ko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깊게 쌓여 있다는 의미로 </a:t>
            </a:r>
            <a:r>
              <a:rPr b="1" i="0" lang="ko" sz="1100" u="none" cap="none" strike="noStrike">
                <a:solidFill>
                  <a:srgbClr val="000000"/>
                </a:solidFill>
              </a:rPr>
              <a:t>심층 신경망</a:t>
            </a:r>
            <a:r>
              <a:rPr b="1" baseline="30000" i="0" lang="ko" sz="1100" u="none" cap="none" strike="noStrike">
                <a:solidFill>
                  <a:srgbClr val="000000"/>
                </a:solidFill>
              </a:rPr>
              <a:t>DNN, deep neural network</a:t>
            </a:r>
            <a:r>
              <a:rPr b="0" i="0" lang="ko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이라 </a:t>
            </a:r>
            <a:r>
              <a:rPr lang="ko" sz="1100"/>
              <a:t>부름.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ko" sz="1100"/>
              <a:t>이중 </a:t>
            </a:r>
            <a:r>
              <a:rPr b="1" i="0" lang="ko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은닉층이 2개 이상인 심층 신경망을 학습시키는 것이 바로 딥러닝</a:t>
            </a:r>
            <a:r>
              <a:rPr b="1" baseline="30000" i="0" lang="ko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deep learning</a:t>
            </a:r>
            <a:r>
              <a:rPr b="0" baseline="30000" i="0" lang="ko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입니다.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은닉층이 많을수록 더 복잡한 문제를 해결할 수 있습니다.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은닉층과 뉴런을 너무 많이 두면 계산량이 어마어마하게 많아지므로 학습 시간이 오래 걸립니다.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그리고 세세한 요소에 집중해서 오히려 쉬운 문제를 풀지 못하는 과적합이 발생할 수 있습니다.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5" name="Google Shape;145;h5d2d7baf524a5fb5_0_1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79850" y="3211200"/>
            <a:ext cx="2552450" cy="153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h5d2d7baf524a5fb5_0_128" title="image (7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8125" y="2050148"/>
            <a:ext cx="4086502" cy="17899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h1e66244ddf5aee8b_0_73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18"/>
              <a:buNone/>
            </a:pPr>
            <a:r>
              <a:rPr b="1" lang="ko"/>
              <a:t>신경망 Layer(층)별 유닛 개수 의미</a:t>
            </a:r>
            <a:endParaRPr b="1" sz="1133">
              <a:solidFill>
                <a:schemeClr val="dk2"/>
              </a:solidFill>
            </a:endParaRPr>
          </a:p>
        </p:txBody>
      </p:sp>
      <p:sp>
        <p:nvSpPr>
          <p:cNvPr id="152" name="Google Shape;152;h1e66244ddf5aee8b_0_73"/>
          <p:cNvSpPr txBox="1"/>
          <p:nvPr>
            <p:ph idx="1" type="body"/>
          </p:nvPr>
        </p:nvSpPr>
        <p:spPr>
          <a:xfrm>
            <a:off x="311700" y="2290725"/>
            <a:ext cx="8520600" cy="27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1. 입력층 (Input Layer)</a:t>
            </a:r>
            <a:r>
              <a:rPr lang="ko" sz="1100">
                <a:solidFill>
                  <a:schemeClr val="dk1"/>
                </a:solidFill>
              </a:rPr>
              <a:t> : 입력층의 유닛 개수는 데이터의 피처(Feature, 변수) 개수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집</a:t>
            </a:r>
            <a:r>
              <a:rPr lang="ko" sz="1000"/>
              <a:t>값을 예측할 때 입력 데이터가 '평수, 방 개수, 위치' 3개라면 유닛은 3개. 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28x28크기의 흑백 이미지를 1차원 배열로 펼쳐서 입력한다면 유닛은 784개(28*28)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2. 은닉층 (Hidden Layers)</a:t>
            </a:r>
            <a:r>
              <a:rPr lang="ko" sz="1100">
                <a:solidFill>
                  <a:schemeClr val="dk1"/>
                </a:solidFill>
              </a:rPr>
              <a:t> : 모델이 데이터로부터 얼마나 다양하고 복잡한 특징(Feature)을 추출할 것인가를 의미하는 개수 (자동 특성 공학)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입력층 유닛이 3개([방 개수, 면적, 연식])이고, 첫 번째 은닉층의 유닛이 4개라고 가정한다면 이 </a:t>
            </a:r>
            <a:r>
              <a:rPr lang="ko" sz="1000"/>
              <a:t>4개의 </a:t>
            </a:r>
            <a:r>
              <a:rPr lang="ko" sz="1000"/>
              <a:t>유닛은 각각 다음과 같은 잠재적 의미(Latent Feature)를 스스로 조합하여 학습  – 예. 공간의 쾌적성, 가족 거주 적합도, 감가상각 및 노후도, 트렌디함/신축 프리미엄 정도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(다음 은닉층이 있다면) – [가족 적합도가 높은데 노후도가 심함 = 리모델링이 필요한 다가구 주택]이라는 더 고차원적이고 복잡한 개념을 완성</a:t>
            </a:r>
            <a:endParaRPr sz="3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3. 출력층 (Output Layer) : </a:t>
            </a:r>
            <a:r>
              <a:rPr lang="ko" sz="1100">
                <a:solidFill>
                  <a:schemeClr val="dk1"/>
                </a:solidFill>
              </a:rPr>
              <a:t>출력층의 유닛 개수는 모델이 최종적으로 해결하려는 문제의 형태(정답의 차원)에 의해 개수 결정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회귀(Regression) 문제: 주가 예측, 집값 예측 등 하나의 연속된 수치를 예측할 때는 보통 1개의 유닛을 사용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이진 분류: 스팸 유무(성공/실패)를 판별할 때는 보통 1개의 유닛(0~1 사이의 확률값 출력)을 사용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다중 분류: 데이터를 10개의 카테고리(예: 0~9까지의 숫자 이미지) 중 하나로 분류해야 한다면 유닛은 10개. 각 유닛은 해당 카테고리일 확률을 출력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cxnSp>
        <p:nvCxnSpPr>
          <p:cNvPr id="153" name="Google Shape;153;h1e66244ddf5aee8b_0_73"/>
          <p:cNvCxnSpPr/>
          <p:nvPr/>
        </p:nvCxnSpPr>
        <p:spPr>
          <a:xfrm flipH="1" rot="10800000">
            <a:off x="343450" y="850525"/>
            <a:ext cx="8471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54" name="Google Shape;154;h1e66244ddf5aee8b_0_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72350" y="920025"/>
            <a:ext cx="2505401" cy="1998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h1e66244ddf5aee8b_0_73"/>
          <p:cNvSpPr txBox="1"/>
          <p:nvPr/>
        </p:nvSpPr>
        <p:spPr>
          <a:xfrm>
            <a:off x="343450" y="920025"/>
            <a:ext cx="56070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은닉층의 레이어, 노드(유닛) 개수를 정하는 공식은 없음. 데이터의 양, 문제의 복잡성, 하드웨어 성능에 따라 실험적으로 구현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통상적으로는 레이어를  층이 깊어질수록 노드 수를 점점 줄여나가며 고차원 특징을 추상화하는 방식이 자주 쓰임.</a:t>
            </a:r>
            <a:endParaRPr sz="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h5d2d7baf524a5fb5_0_53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18"/>
              <a:buNone/>
            </a:pPr>
            <a:r>
              <a:rPr b="1" lang="ko"/>
              <a:t>특성공학</a:t>
            </a:r>
            <a:r>
              <a:rPr b="1" lang="ko">
                <a:solidFill>
                  <a:srgbClr val="595959"/>
                </a:solidFill>
              </a:rPr>
              <a:t> (파생변수 만들기)</a:t>
            </a:r>
            <a:endParaRPr b="1" sz="1133">
              <a:solidFill>
                <a:srgbClr val="595959"/>
              </a:solidFill>
            </a:endParaRPr>
          </a:p>
        </p:txBody>
      </p:sp>
      <p:cxnSp>
        <p:nvCxnSpPr>
          <p:cNvPr id="161" name="Google Shape;161;h5d2d7baf524a5fb5_0_53"/>
          <p:cNvCxnSpPr/>
          <p:nvPr/>
        </p:nvCxnSpPr>
        <p:spPr>
          <a:xfrm flipH="1" rot="10800000">
            <a:off x="343450" y="850525"/>
            <a:ext cx="8471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2" name="Google Shape;162;h5d2d7baf524a5fb5_0_53"/>
          <p:cNvSpPr txBox="1"/>
          <p:nvPr>
            <p:ph idx="1" type="body"/>
          </p:nvPr>
        </p:nvSpPr>
        <p:spPr>
          <a:xfrm>
            <a:off x="311700" y="958307"/>
            <a:ext cx="8520600" cy="40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특성공학(Feature Engineering)은 기존 독립변수를 변환하거나 조합하여 모델 학습에 유용한 새로운 특성(파생변수)을 만드는 과정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예) 집값을 예측할 때 다음 세 가지 정보를 사용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집 넓이 (area_m2)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방 개수 (rooms)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건물 연식 (building_age_years)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이 변수들을 조합하면 새로운 정보를 표현할 수 있음.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비유: 요리 재료가 같아도 재료를 조합하는 방법에 따라 새로운 맛이 나오듯, 기존 데이터도 조합하면 모델이 활용할 수 있는 새로운 정보가 생길 수 있음.</a:t>
            </a:r>
            <a:endParaRPr sz="1100">
              <a:solidFill>
                <a:schemeClr val="dk1"/>
              </a:solidFill>
            </a:endParaRPr>
          </a:p>
        </p:txBody>
      </p:sp>
      <p:graphicFrame>
        <p:nvGraphicFramePr>
          <p:cNvPr id="163" name="Google Shape;163;h5d2d7baf524a5fb5_0_53"/>
          <p:cNvGraphicFramePr/>
          <p:nvPr/>
        </p:nvGraphicFramePr>
        <p:xfrm>
          <a:off x="343450" y="2687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{D8C67BF3-4223-48C1-BD28-E89903D4EB77}</a:tableStyleId>
              </a:tblPr>
              <a:tblGrid>
                <a:gridCol w="1992375"/>
                <a:gridCol w="2683925"/>
                <a:gridCol w="3046175"/>
              </a:tblGrid>
              <a:tr h="29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00"/>
                        <a:t>기존 독립변수 조합</a:t>
                      </a:r>
                      <a:endParaRPr b="1" sz="1000"/>
                    </a:p>
                  </a:txBody>
                  <a:tcPr marT="91425" marB="91425" marR="91425" marL="91425"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00"/>
                        <a:t>새로운 파생변수</a:t>
                      </a:r>
                      <a:endParaRPr b="1" sz="1000"/>
                    </a:p>
                  </a:txBody>
                  <a:tcPr marT="91425" marB="91425" marR="91425" marL="91425"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00"/>
                        <a:t>표현하려는 관계</a:t>
                      </a:r>
                      <a:endParaRPr b="1" sz="1000"/>
                    </a:p>
                  </a:txBody>
                  <a:tcPr marT="91425" marB="91425" marR="91425" marL="91425"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7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넓이 ÷ 방 개수</a:t>
                      </a:r>
                      <a:endParaRPr sz="1000"/>
                    </a:p>
                  </a:txBody>
                  <a:tcPr marT="91425" marB="91425" marR="91425" marL="91425"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방당 평균 면적</a:t>
                      </a:r>
                      <a:endParaRPr sz="1000"/>
                    </a:p>
                  </a:txBody>
                  <a:tcPr marT="91425" marB="91425" marR="91425" marL="91425"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공간 활용 특성</a:t>
                      </a:r>
                      <a:endParaRPr sz="1000"/>
                    </a:p>
                  </a:txBody>
                  <a:tcPr marT="91425" marB="91425" marR="91425" marL="91425"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7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넓이 × 방 개수</a:t>
                      </a:r>
                      <a:endParaRPr sz="1000"/>
                    </a:p>
                  </a:txBody>
                  <a:tcPr marT="91425" marB="91425" marR="91425" marL="91425"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면적과 방 수의 상호작용</a:t>
                      </a:r>
                      <a:endParaRPr sz="1000"/>
                    </a:p>
                  </a:txBody>
                  <a:tcPr marT="91425" marB="91425" marR="91425" marL="91425"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두 특성의 결합 효과</a:t>
                      </a:r>
                      <a:endParaRPr sz="1000"/>
                    </a:p>
                  </a:txBody>
                  <a:tcPr marT="91425" marB="91425" marR="91425" marL="91425"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7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넓이 × 건물 연식</a:t>
                      </a:r>
                      <a:endParaRPr sz="1000"/>
                    </a:p>
                  </a:txBody>
                  <a:tcPr marT="91425" marB="91425" marR="91425" marL="91425"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면적과 노후도의 상호작용</a:t>
                      </a:r>
                      <a:endParaRPr sz="1000"/>
                    </a:p>
                  </a:txBody>
                  <a:tcPr marT="91425" marB="91425" marR="91425" marL="91425"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연식에 따른 면적 효과의 차이</a:t>
                      </a:r>
                      <a:endParaRPr sz="1000"/>
                    </a:p>
                  </a:txBody>
                  <a:tcPr marT="91425" marB="91425" marR="91425" marL="91425"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7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넓이²</a:t>
                      </a:r>
                      <a:endParaRPr sz="1000"/>
                    </a:p>
                  </a:txBody>
                  <a:tcPr marT="91425" marB="91425" marR="91425" marL="91425"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면적의 제곱</a:t>
                      </a:r>
                      <a:endParaRPr sz="1000"/>
                    </a:p>
                  </a:txBody>
                  <a:tcPr marT="91425" marB="91425" marR="91425" marL="91425"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넓이와 집값의 비선형 관계</a:t>
                      </a:r>
                      <a:endParaRPr sz="1000"/>
                    </a:p>
                  </a:txBody>
                  <a:tcPr marT="91425" marB="91425" marR="91425" marL="91425"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h5d2d7baf524a5fb5_0_64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18"/>
              <a:buNone/>
            </a:pPr>
            <a:r>
              <a:rPr b="1" lang="ko"/>
              <a:t>머신러닝에서의 </a:t>
            </a:r>
            <a:r>
              <a:rPr b="1" lang="ko"/>
              <a:t>특성공학 </a:t>
            </a:r>
            <a:r>
              <a:rPr b="1" lang="ko"/>
              <a:t>적용</a:t>
            </a:r>
            <a:endParaRPr b="1" sz="1133">
              <a:solidFill>
                <a:schemeClr val="dk2"/>
              </a:solidFill>
            </a:endParaRPr>
          </a:p>
        </p:txBody>
      </p:sp>
      <p:cxnSp>
        <p:nvCxnSpPr>
          <p:cNvPr id="169" name="Google Shape;169;h5d2d7baf524a5fb5_0_64"/>
          <p:cNvCxnSpPr/>
          <p:nvPr/>
        </p:nvCxnSpPr>
        <p:spPr>
          <a:xfrm flipH="1" rot="10800000">
            <a:off x="343450" y="850525"/>
            <a:ext cx="8471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0" name="Google Shape;170;h5d2d7baf524a5fb5_0_64"/>
          <p:cNvSpPr txBox="1"/>
          <p:nvPr>
            <p:ph idx="1" type="body"/>
          </p:nvPr>
        </p:nvSpPr>
        <p:spPr>
          <a:xfrm>
            <a:off x="311700" y="958307"/>
            <a:ext cx="8520600" cy="40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Scikit-learn의 PolynomialFeatures는 기존 변수들을 제곱하거나 서로 곱하여 여러 파생변수를 자동 생성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rgbClr val="595959"/>
                </a:solidFill>
              </a:rPr>
              <a:t>X = df[["area_m2", "rooms", "building_age_years"]]</a:t>
            </a:r>
            <a:endParaRPr sz="10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rgbClr val="595959"/>
                </a:solidFill>
              </a:rPr>
              <a:t>poly = PolynomialFeatures(degree=2, include_bias=False)</a:t>
            </a:r>
            <a:endParaRPr sz="10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rgbClr val="595959"/>
                </a:solidFill>
              </a:rPr>
              <a:t>X_train_poly = poly.fit_transform(X_train)</a:t>
            </a:r>
            <a:endParaRPr sz="10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71" name="Google Shape;171;h5d2d7baf524a5fb5_0_64" title="스크린샷 2026-10-25 오전 1.12.5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450" y="2100925"/>
            <a:ext cx="6653577" cy="2910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h5d2d7baf524a5fb5_0_81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18"/>
              <a:buNone/>
            </a:pPr>
            <a:r>
              <a:rPr b="1" lang="ko"/>
              <a:t>특성공학의 장점</a:t>
            </a:r>
            <a:endParaRPr b="1" sz="1133">
              <a:solidFill>
                <a:schemeClr val="dk2"/>
              </a:solidFill>
            </a:endParaRPr>
          </a:p>
        </p:txBody>
      </p:sp>
      <p:sp>
        <p:nvSpPr>
          <p:cNvPr id="177" name="Google Shape;177;h5d2d7baf524a5fb5_0_81"/>
          <p:cNvSpPr txBox="1"/>
          <p:nvPr>
            <p:ph idx="1" type="body"/>
          </p:nvPr>
        </p:nvSpPr>
        <p:spPr>
          <a:xfrm>
            <a:off x="343450" y="3150967"/>
            <a:ext cx="8520600" cy="4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595959"/>
                </a:solidFill>
              </a:rPr>
              <a:t>주의할 점: 특성 수가 늘어난다고 무조건 성능이 좋아지는 것은 아닙니다. 불필요한 파생변수는 과적합을 일으킬 수 있음.</a:t>
            </a:r>
            <a:endParaRPr sz="900">
              <a:solidFill>
                <a:srgbClr val="595959"/>
              </a:solidFill>
            </a:endParaRPr>
          </a:p>
        </p:txBody>
      </p:sp>
      <p:cxnSp>
        <p:nvCxnSpPr>
          <p:cNvPr id="178" name="Google Shape;178;h5d2d7baf524a5fb5_0_81"/>
          <p:cNvCxnSpPr/>
          <p:nvPr/>
        </p:nvCxnSpPr>
        <p:spPr>
          <a:xfrm flipH="1" rot="10800000">
            <a:off x="343450" y="850525"/>
            <a:ext cx="8471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79" name="Google Shape;179;h5d2d7baf524a5fb5_0_81"/>
          <p:cNvGraphicFramePr/>
          <p:nvPr/>
        </p:nvGraphicFramePr>
        <p:xfrm>
          <a:off x="343450" y="1055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{D8C67BF3-4223-48C1-BD28-E89903D4EB77}</a:tableStyleId>
              </a:tblPr>
              <a:tblGrid>
                <a:gridCol w="1853375"/>
                <a:gridCol w="4960075"/>
              </a:tblGrid>
              <a:tr h="289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>
                          <a:solidFill>
                            <a:schemeClr val="dk1"/>
                          </a:solidFill>
                        </a:rPr>
                        <a:t>장점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>
                          <a:solidFill>
                            <a:schemeClr val="dk1"/>
                          </a:solidFill>
                        </a:rPr>
                        <a:t>설명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복잡한 관계 표현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단순 직선으로 표현하기 어려운 관계를 학습할 수 있음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변수 간 상호작용 반영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넓이와 방개수처럼 서로 영향을 주는 특성을 함께 표현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예측 성능 개선 가능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유용한 파생변수를 만들면 MAE, RMSE 등이 개선될 수 있음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기존 모델 활용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별도의 복잡한 모델 없이 선형회귀에도 적용 가능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180" name="Google Shape;180;h5d2d7baf524a5fb5_0_81"/>
          <p:cNvSpPr txBox="1"/>
          <p:nvPr/>
        </p:nvSpPr>
        <p:spPr>
          <a:xfrm>
            <a:off x="343441" y="4124047"/>
            <a:ext cx="78774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100">
                <a:solidFill>
                  <a:schemeClr val="dk1"/>
                </a:solidFill>
              </a:rPr>
              <a:t>특성공학은 데이터를 무조건 많이 만드는 기술이 아니라, 기존 변수에서 예측에 유용한 관계를 찾아 새로운 특성으로 표현하는 기술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100">
                <a:solidFill>
                  <a:schemeClr val="dk1"/>
                </a:solidFill>
              </a:rPr>
              <a:t>하지만 특성공학은 사람이 새로운 특징을 직접 만들어내는 과정을 수행해야 함</a:t>
            </a:r>
            <a:endParaRPr b="1"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h5d2d7baf524a5fb5_0_94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18"/>
              <a:buNone/>
            </a:pPr>
            <a:r>
              <a:rPr b="1" lang="ko"/>
              <a:t>딥러닝</a:t>
            </a:r>
            <a:r>
              <a:rPr b="1" lang="ko"/>
              <a:t>의 은닉층을 이용한 자동 특성 추출</a:t>
            </a:r>
            <a:endParaRPr b="1" sz="1133">
              <a:solidFill>
                <a:schemeClr val="dk2"/>
              </a:solidFill>
            </a:endParaRPr>
          </a:p>
        </p:txBody>
      </p:sp>
      <p:sp>
        <p:nvSpPr>
          <p:cNvPr id="186" name="Google Shape;186;h5d2d7baf524a5fb5_0_94"/>
          <p:cNvSpPr txBox="1"/>
          <p:nvPr>
            <p:ph idx="1" type="body"/>
          </p:nvPr>
        </p:nvSpPr>
        <p:spPr>
          <a:xfrm>
            <a:off x="311700" y="958307"/>
            <a:ext cx="8520600" cy="40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chemeClr val="dk1"/>
                </a:solidFill>
              </a:rPr>
              <a:t>자동 특성 추출(Automatic Feature Extraction)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기존의 머신러닝 방법과 달리, 사람이 직접 특성을 추출(Feature Engineering)할 필요 없이, 딥러닝 모델이 데이터로부터 자동으로 유용한 특성을 학습합니다.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cxnSp>
        <p:nvCxnSpPr>
          <p:cNvPr id="187" name="Google Shape;187;h5d2d7baf524a5fb5_0_94"/>
          <p:cNvCxnSpPr/>
          <p:nvPr/>
        </p:nvCxnSpPr>
        <p:spPr>
          <a:xfrm flipH="1" rot="10800000">
            <a:off x="343450" y="850525"/>
            <a:ext cx="8471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88" name="Google Shape;188;h5d2d7baf524a5fb5_0_94"/>
          <p:cNvGraphicFramePr/>
          <p:nvPr/>
        </p:nvGraphicFramePr>
        <p:xfrm>
          <a:off x="343450" y="1971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{D8C67BF3-4223-48C1-BD28-E89903D4EB77}</a:tableStyleId>
              </a:tblPr>
              <a:tblGrid>
                <a:gridCol w="1353425"/>
                <a:gridCol w="3086325"/>
                <a:gridCol w="3440500"/>
              </a:tblGrid>
              <a:tr h="4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구분</a:t>
                      </a:r>
                      <a:endParaRPr b="1" sz="11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특성공학(Feature Engineering)</a:t>
                      </a:r>
                      <a:endParaRPr b="1" sz="11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딥러닝 은닉층(Hidden Layer)</a:t>
                      </a:r>
                      <a:endParaRPr b="1" sz="11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/>
                        <a:t>새로운 특징 생성</a:t>
                      </a:r>
                      <a:endParaRPr sz="11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/>
                        <a:t>개발자가 직접 만들거나 변환 규칙 지정</a:t>
                      </a:r>
                      <a:endParaRPr sz="11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/>
                        <a:t>신경망이 학습을 통해 생성</a:t>
                      </a:r>
                      <a:endParaRPr sz="11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/>
                        <a:t>예시</a:t>
                      </a:r>
                      <a:endParaRPr sz="11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/>
                        <a:t>넓이², 넓이 × 방 개수</a:t>
                      </a:r>
                      <a:endParaRPr sz="11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/>
                        <a:t>입력값의 가중합과 활성화 함수를 통한 특징</a:t>
                      </a:r>
                      <a:endParaRPr sz="11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/>
                        <a:t>특징의 개수</a:t>
                      </a:r>
                      <a:endParaRPr sz="11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/>
                        <a:t>생성한 파생변수 개수</a:t>
                      </a:r>
                      <a:endParaRPr sz="11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/>
                        <a:t>은닉층의 유닛 개수</a:t>
                      </a:r>
                      <a:endParaRPr sz="11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/>
                        <a:t>특징 생성 방법</a:t>
                      </a:r>
                      <a:endParaRPr sz="11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/>
                        <a:t>정해진 수학적 변환</a:t>
                      </a:r>
                      <a:endParaRPr sz="11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/>
                        <a:t>가중치와 활성화 함수를 학습</a:t>
                      </a:r>
                      <a:endParaRPr sz="11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/>
                        <a:t>핵심</a:t>
                      </a:r>
                      <a:endParaRPr sz="11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/>
                        <a:t>명시적인 특성 변환</a:t>
                      </a:r>
                      <a:endParaRPr sz="11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/>
                        <a:t>자동 특징 학습(Representation Learning)</a:t>
                      </a:r>
                      <a:endParaRPr sz="11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h5d2d7baf524a5fb5_0_105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18"/>
              <a:buNone/>
            </a:pPr>
            <a:r>
              <a:rPr b="1" lang="ko"/>
              <a:t>딥러닝의 은닉층을 이용한 자동 특성 추출</a:t>
            </a:r>
            <a:endParaRPr b="1" sz="1133">
              <a:solidFill>
                <a:schemeClr val="dk2"/>
              </a:solidFill>
            </a:endParaRPr>
          </a:p>
        </p:txBody>
      </p:sp>
      <p:sp>
        <p:nvSpPr>
          <p:cNvPr id="194" name="Google Shape;194;h5d2d7baf524a5fb5_0_105"/>
          <p:cNvSpPr txBox="1"/>
          <p:nvPr>
            <p:ph idx="1" type="body"/>
          </p:nvPr>
        </p:nvSpPr>
        <p:spPr>
          <a:xfrm>
            <a:off x="311700" y="3314741"/>
            <a:ext cx="8520600" cy="16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1"/>
                </a:solidFill>
              </a:rPr>
              <a:t>유닛 수가 많아지면 더 다양한 중간 특징을 학습할 수 있는 표현 용량이 커짐.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200">
                <a:solidFill>
                  <a:schemeClr val="dk1"/>
                </a:solidFill>
              </a:rPr>
              <a:t>특성공학은 사람이 새로운 특징을 만들어 주는 것이고, 딥러닝 은닉층은 신경망이 유용한 특징을 스스로 학습하도록 하는 것.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1"/>
                </a:solidFill>
              </a:rPr>
              <a:t>유닛 수를 늘려도 성능이 반드시 좋아지지는 않습니다. 모델이 복잡해지면서 과적합 위험이 커질 수 있음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1"/>
                </a:solidFill>
              </a:rPr>
              <a:t>활성화 함수 없이 선형층만 여러 개 쌓으면 전체적으로 하나의 선형 변환과 같음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1"/>
                </a:solidFill>
              </a:rPr>
              <a:t>ReLU 같은 비선형 활성화 함수를 사용해야 복잡한 비선형 관계를 학습할 수 있음.</a:t>
            </a:r>
            <a:endParaRPr sz="1000">
              <a:solidFill>
                <a:schemeClr val="dk1"/>
              </a:solidFill>
            </a:endParaRPr>
          </a:p>
        </p:txBody>
      </p:sp>
      <p:cxnSp>
        <p:nvCxnSpPr>
          <p:cNvPr id="195" name="Google Shape;195;h5d2d7baf524a5fb5_0_105"/>
          <p:cNvCxnSpPr/>
          <p:nvPr/>
        </p:nvCxnSpPr>
        <p:spPr>
          <a:xfrm flipH="1" rot="10800000">
            <a:off x="343450" y="850525"/>
            <a:ext cx="8471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96" name="Google Shape;196;h5d2d7baf524a5fb5_0_105" title="스크린샷 2026-10-25 오전 1.51.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448" y="970737"/>
            <a:ext cx="6093677" cy="2354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h5d2d7baf524a5fb5_0_143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18"/>
              <a:buNone/>
            </a:pPr>
            <a:r>
              <a:rPr b="1" lang="ko"/>
              <a:t>딥러닝</a:t>
            </a:r>
            <a:r>
              <a:rPr b="1" lang="ko"/>
              <a:t>을</a:t>
            </a:r>
            <a:r>
              <a:rPr b="1" lang="ko"/>
              <a:t> </a:t>
            </a:r>
            <a:r>
              <a:rPr b="1" lang="ko"/>
              <a:t>위한 </a:t>
            </a:r>
            <a:r>
              <a:rPr b="1" lang="ko"/>
              <a:t>인공신경망 </a:t>
            </a:r>
            <a:r>
              <a:rPr b="1" lang="ko"/>
              <a:t>개념 정리</a:t>
            </a:r>
            <a:endParaRPr b="1" sz="1133">
              <a:solidFill>
                <a:schemeClr val="dk2"/>
              </a:solidFill>
            </a:endParaRPr>
          </a:p>
        </p:txBody>
      </p:sp>
      <p:cxnSp>
        <p:nvCxnSpPr>
          <p:cNvPr id="202" name="Google Shape;202;h5d2d7baf524a5fb5_0_143"/>
          <p:cNvCxnSpPr/>
          <p:nvPr/>
        </p:nvCxnSpPr>
        <p:spPr>
          <a:xfrm flipH="1" rot="10800000">
            <a:off x="343450" y="850525"/>
            <a:ext cx="8471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03" name="Google Shape;203;h5d2d7baf524a5fb5_0_1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1285875"/>
            <a:ext cx="5612201" cy="31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h5d2d7baf524a5fb5_0_1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84925" y="965050"/>
            <a:ext cx="1710700" cy="8865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h5d2d7baf524a5fb5_0_1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28651" y="965050"/>
            <a:ext cx="1086500" cy="865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h5d2d7baf524a5fb5_0_14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00600" y="2140188"/>
            <a:ext cx="2114550" cy="187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h5d2d7baf524a5fb5_0_14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902525" y="4099699"/>
            <a:ext cx="1710688" cy="584851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h5d2d7baf524a5fb5_0_143"/>
          <p:cNvSpPr txBox="1"/>
          <p:nvPr/>
        </p:nvSpPr>
        <p:spPr>
          <a:xfrm>
            <a:off x="6380350" y="1824325"/>
            <a:ext cx="8904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선형회귀 연산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209" name="Google Shape;209;h5d2d7baf524a5fb5_0_143"/>
          <p:cNvSpPr txBox="1"/>
          <p:nvPr/>
        </p:nvSpPr>
        <p:spPr>
          <a:xfrm>
            <a:off x="7588258" y="1826567"/>
            <a:ext cx="13962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입력여러개면 가중치도 여러개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210" name="Google Shape;210;h5d2d7baf524a5fb5_0_143"/>
          <p:cNvSpPr txBox="1"/>
          <p:nvPr/>
        </p:nvSpPr>
        <p:spPr>
          <a:xfrm>
            <a:off x="6764100" y="4705717"/>
            <a:ext cx="19989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한층에 유닛이 2개면 그만큼 가중치도 2배</a:t>
            </a:r>
            <a:endParaRPr sz="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h3876ef70d0c0aec2_0_7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18"/>
              <a:buNone/>
            </a:pPr>
            <a:r>
              <a:rPr b="1" lang="ko"/>
              <a:t>가중치와 편향</a:t>
            </a:r>
            <a:endParaRPr b="1" sz="1133">
              <a:solidFill>
                <a:schemeClr val="dk2"/>
              </a:solidFill>
            </a:endParaRPr>
          </a:p>
        </p:txBody>
      </p:sp>
      <p:cxnSp>
        <p:nvCxnSpPr>
          <p:cNvPr id="216" name="Google Shape;216;h3876ef70d0c0aec2_0_7"/>
          <p:cNvCxnSpPr/>
          <p:nvPr/>
        </p:nvCxnSpPr>
        <p:spPr>
          <a:xfrm flipH="1" rot="10800000">
            <a:off x="343450" y="850525"/>
            <a:ext cx="8471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7" name="Google Shape;217;h3876ef70d0c0aec2_0_7"/>
          <p:cNvSpPr txBox="1"/>
          <p:nvPr/>
        </p:nvSpPr>
        <p:spPr>
          <a:xfrm>
            <a:off x="343625" y="934150"/>
            <a:ext cx="8471700" cy="39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ko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가중치</a:t>
            </a:r>
            <a:r>
              <a:rPr b="1" lang="ko" sz="1300"/>
              <a:t>(Weight)</a:t>
            </a:r>
            <a:r>
              <a:rPr b="1" i="0" lang="ko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와 편향</a:t>
            </a:r>
            <a:r>
              <a:rPr b="1" lang="ko" sz="1300"/>
              <a:t>(Bias)</a:t>
            </a:r>
            <a:endParaRPr b="1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ko" sz="1000"/>
              <a:t>입력값을 바탕으로 최종 결과를 예측하기 위해 신경망이 스스로 학습하는 핵심 매개변수(파라미터)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/>
              <a:t>1. 가중치 (Weight, W)</a:t>
            </a:r>
            <a:r>
              <a:rPr lang="ko" sz="1000"/>
              <a:t> : 입력 신호가 얼마나 중요한지를 조절하는 값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입력 데이터에 곱해지며, 1차 함수에서의 기울기와 같은 역할을 함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가중치가 클수록 해당 입력값이 결과에 미치는 영향력이 커짐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예시: 고양이와 개를 분류하는 AI라면, "귀의 모양"이나 "코의 형태" 같은 특징에 더 높은 가중치 부여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/>
              <a:t>2. 편향 (Bias, b) </a:t>
            </a:r>
            <a:r>
              <a:rPr lang="ko" sz="1000"/>
              <a:t>: 뉴런이 얼마나 쉽게 활성화될지를 조절하는 기준점(임계값)입니다.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가중치와 입력값을 곱한 값에 더해지며, 1차 함수에서의 y절편과 같은 역할을 함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은닉층의 뉴런(유닛,노드) 마다 1개씩 존재  y= w1x1 + w2x2 + …. + b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예시: 스팸 메일 필터에서 편향값을 높게 설정하면, 작은 의심만 있어도 스팸으로 분류하도록 기준을 까다롭게 만들 수 있음.</a:t>
            </a:r>
            <a:endParaRPr sz="10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0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뉴런에서 다른 뉴런으로 전달되는 신호의 세기는 정보의 중요도에 따라 달라질 수 있</a:t>
            </a:r>
            <a:r>
              <a:rPr lang="ko" sz="1000"/>
              <a:t>음.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중요하지 않은 정보는 낮은 가중치로 전달되거나 소멸</a:t>
            </a:r>
            <a:r>
              <a:rPr lang="ko" sz="1000"/>
              <a:t>되며</a:t>
            </a: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가중치가 0이 될 수도 있</a:t>
            </a:r>
            <a:r>
              <a:rPr lang="ko" sz="1000"/>
              <a:t>음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편향</a:t>
            </a:r>
            <a:r>
              <a:rPr b="0" baseline="3000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bias</a:t>
            </a: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은 마치 라면에서 마지막에 얹는 치즈 같은 역할을 </a:t>
            </a:r>
            <a:r>
              <a:rPr lang="ko" sz="1000"/>
              <a:t>함</a:t>
            </a: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더 좋은 결과, 원하는 결과가 나오도록 약간 조정해 주는 것.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가중치와 편향은 사람이 입력하는 값이 아</a:t>
            </a:r>
            <a:r>
              <a:rPr lang="ko" sz="1000"/>
              <a:t>님</a:t>
            </a: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신경망을 학습한다는 것은 결국 가중치와 편향의 값을 찾아가는 과정</a:t>
            </a:r>
            <a:r>
              <a:rPr lang="ko" sz="1000"/>
              <a:t>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8" name="Google Shape;218;h3876ef70d0c0aec2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4450" y="1084000"/>
            <a:ext cx="3212626" cy="161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h3876ef70d0c0aec2_0_0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18"/>
              <a:buNone/>
            </a:pPr>
            <a:r>
              <a:rPr b="1" lang="ko"/>
              <a:t>활성화 함수</a:t>
            </a:r>
            <a:endParaRPr b="1" sz="1133">
              <a:solidFill>
                <a:schemeClr val="dk2"/>
              </a:solidFill>
            </a:endParaRPr>
          </a:p>
        </p:txBody>
      </p:sp>
      <p:cxnSp>
        <p:nvCxnSpPr>
          <p:cNvPr id="224" name="Google Shape;224;h3876ef70d0c0aec2_0_0"/>
          <p:cNvCxnSpPr/>
          <p:nvPr/>
        </p:nvCxnSpPr>
        <p:spPr>
          <a:xfrm flipH="1" rot="10800000">
            <a:off x="343450" y="850525"/>
            <a:ext cx="8471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5" name="Google Shape;225;h3876ef70d0c0aec2_0_0"/>
          <p:cNvSpPr txBox="1"/>
          <p:nvPr/>
        </p:nvSpPr>
        <p:spPr>
          <a:xfrm>
            <a:off x="343625" y="934142"/>
            <a:ext cx="8471700" cy="38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300"/>
              <a:t>활성화 함수</a:t>
            </a:r>
            <a:endParaRPr b="1" sz="13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인공신경망에서 뉴런으로 들어오는 입력값들의 가중치 합을 최종 출력값으로 변환해 다음 층으로 전달하는 비선형 계산식</a:t>
            </a:r>
            <a:endParaRPr sz="11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10점이면 가장 맛있는 라면이고 1점이면 가장 맛없는 라면이라고 할 때, 8점 이상이면 1, </a:t>
            </a:r>
            <a:endParaRPr sz="11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8점 미만이면 0을 결과로 출력하는 활성화 함수를 추가하면 퍼셉트론이 이 함수를 거쳐 맛있는 </a:t>
            </a:r>
            <a:endParaRPr sz="11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라면은 1, 맛없는 라면은 0이라는 결과를 출력</a:t>
            </a:r>
            <a:r>
              <a:rPr lang="ko" sz="1100"/>
              <a:t>하게 됨</a:t>
            </a:r>
            <a:r>
              <a:rPr lang="ko" sz="1100"/>
              <a:t>. </a:t>
            </a:r>
            <a:endParaRPr sz="11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이를 은닉층에 사용하면 1인 정보는 다음 층으로 전달되고 0인 정보는 전달되지 않게 </a:t>
            </a:r>
            <a:r>
              <a:rPr lang="ko" sz="1100"/>
              <a:t>됨.</a:t>
            </a:r>
            <a:endParaRPr sz="11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활성화 함수는 망을 더 복잡하고 깊게 만들어 더 복잡한 문제를 잘 풀기  위해서 사용</a:t>
            </a:r>
            <a:endParaRPr sz="11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뉴런의 출력을 비선형적으로 변환해 모델이 복잡한 패턴을 학습할 수 있게 해주는 핵심 요소</a:t>
            </a:r>
            <a:endParaRPr sz="11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대표적인 활성화함수 : 시그모이드, Softmax, Relu</a:t>
            </a:r>
            <a:endParaRPr sz="11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/>
              <a:t>Sigmoid</a:t>
            </a:r>
            <a:r>
              <a:rPr lang="ko" sz="1000"/>
              <a:t> (시그모이드): 입력값을 0과 1 사이의 S자 형태로 압축. 주로 이진 분류의 출력층에 사용.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/>
              <a:t>Tanh</a:t>
            </a:r>
            <a:r>
              <a:rPr lang="ko" sz="1000"/>
              <a:t> (Hyperbolic Tangent): 입력값을 -1과 1 사이로 압축하며, 중심값이 0이라 </a:t>
            </a:r>
            <a:r>
              <a:rPr lang="ko" sz="1000">
                <a:solidFill>
                  <a:schemeClr val="dk1"/>
                </a:solidFill>
              </a:rPr>
              <a:t>시그모이드보다 </a:t>
            </a:r>
            <a:r>
              <a:rPr lang="ko" sz="1000"/>
              <a:t>학습 효율이 조금 더 좋음.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/>
              <a:t>Softmax</a:t>
            </a:r>
            <a:r>
              <a:rPr lang="ko" sz="1000"/>
              <a:t> (소프트맥스): 다중 클래스 분류에서 여러 개체별 확률값의 총합이 1이 되도록 변환</a:t>
            </a:r>
            <a:r>
              <a:rPr lang="ko" sz="1000"/>
              <a:t>합니다.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chemeClr val="dk1"/>
                </a:solidFill>
              </a:rPr>
              <a:t>ReLU</a:t>
            </a:r>
            <a:r>
              <a:rPr lang="ko" sz="1000">
                <a:solidFill>
                  <a:schemeClr val="dk1"/>
                </a:solidFill>
              </a:rPr>
              <a:t> (Rectified Linear Unit): 입력값이 0 이하면 0을 출력하고, 0보다 크면 입력값 그대로 출력. 계산이 빨라 현재 가장 많이 사용 </a:t>
            </a:r>
            <a:endParaRPr sz="11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pic>
        <p:nvPicPr>
          <p:cNvPr id="226" name="Google Shape;226;h3876ef70d0c0aec2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95700" y="1885325"/>
            <a:ext cx="2019449" cy="207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b26b0430d0_0_37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18"/>
              <a:buNone/>
            </a:pPr>
            <a:r>
              <a:rPr b="1" lang="ko"/>
              <a:t>딥러닝의 핵심 개념과 구조</a:t>
            </a:r>
            <a:endParaRPr b="1" sz="1133">
              <a:solidFill>
                <a:schemeClr val="dk2"/>
              </a:solidFill>
            </a:endParaRPr>
          </a:p>
        </p:txBody>
      </p:sp>
      <p:sp>
        <p:nvSpPr>
          <p:cNvPr id="232" name="Google Shape;232;g3b26b0430d0_0_37"/>
          <p:cNvSpPr txBox="1"/>
          <p:nvPr>
            <p:ph idx="1" type="body"/>
          </p:nvPr>
        </p:nvSpPr>
        <p:spPr>
          <a:xfrm>
            <a:off x="311700" y="958307"/>
            <a:ext cx="8520600" cy="40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chemeClr val="dk1"/>
                </a:solidFill>
              </a:rPr>
              <a:t>계층 구조 (Layers)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딥 러닝 모델은 데이터를 받아들이는 </a:t>
            </a:r>
            <a:r>
              <a:rPr b="1" lang="ko" sz="1100">
                <a:solidFill>
                  <a:schemeClr val="dk1"/>
                </a:solidFill>
              </a:rPr>
              <a:t>입력층(Input Layer)</a:t>
            </a:r>
            <a:r>
              <a:rPr lang="ko" sz="1100">
                <a:solidFill>
                  <a:schemeClr val="dk1"/>
                </a:solidFill>
              </a:rPr>
              <a:t>, 중간에서 복잡한 특징을 스스로 분석하고 학습하는 여러 개의 </a:t>
            </a:r>
            <a:r>
              <a:rPr b="1" lang="ko" sz="1100">
                <a:solidFill>
                  <a:schemeClr val="dk1"/>
                </a:solidFill>
              </a:rPr>
              <a:t>은닉층(Hidden Layers)</a:t>
            </a:r>
            <a:r>
              <a:rPr lang="ko" sz="1100">
                <a:solidFill>
                  <a:schemeClr val="dk1"/>
                </a:solidFill>
              </a:rPr>
              <a:t>, 그리고 최종 결과를 내놓는 </a:t>
            </a:r>
            <a:r>
              <a:rPr b="1" lang="ko" sz="1100">
                <a:solidFill>
                  <a:schemeClr val="dk1"/>
                </a:solidFill>
              </a:rPr>
              <a:t>출력층(Output Layer)</a:t>
            </a:r>
            <a:r>
              <a:rPr lang="ko" sz="1100">
                <a:solidFill>
                  <a:schemeClr val="dk1"/>
                </a:solidFill>
              </a:rPr>
              <a:t>으로 구성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chemeClr val="dk1"/>
                </a:solidFill>
              </a:rPr>
              <a:t>자동 특징 추출 (Feature Learning)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전통적인 머신러닝은 사람이 직접 데이터의 특징(Feature)을 설계해 주어야 했지만, 딥 러닝은 깊게 쌓인 은닉층을 통해 컴퓨터가 원시 데이터에서 직접 유용한 특징을 찾아냄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chemeClr val="dk1"/>
                </a:solidFill>
              </a:rPr>
              <a:t>가중치 조정 (Weights &amp; Backpropagation)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입력값에 가중치를 곱하고 활성화 함수를 거쳐 결과를 예측한 뒤, 정답과의 오차(손실)를 계산하며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이후 역전파(Backpropagation)와 경사 하강법(Gradient Descent) 알고리즘을 이용해 오차가 줄어들도록 수백만~수십억 개의 가중치를 반복해서 수정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cxnSp>
        <p:nvCxnSpPr>
          <p:cNvPr id="233" name="Google Shape;233;g3b26b0430d0_0_37"/>
          <p:cNvCxnSpPr/>
          <p:nvPr/>
        </p:nvCxnSpPr>
        <p:spPr>
          <a:xfrm flipH="1" rot="10800000">
            <a:off x="343450" y="850525"/>
            <a:ext cx="8471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h5d2d7baf524a5fb5_0_5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18"/>
              <a:buNone/>
            </a:pPr>
            <a:r>
              <a:rPr b="1" lang="ko"/>
              <a:t>머신러닝과 딥러닝의 차이</a:t>
            </a:r>
            <a:endParaRPr b="1" sz="1133">
              <a:solidFill>
                <a:schemeClr val="dk2"/>
              </a:solidFill>
            </a:endParaRPr>
          </a:p>
        </p:txBody>
      </p:sp>
      <p:cxnSp>
        <p:nvCxnSpPr>
          <p:cNvPr id="239" name="Google Shape;239;h5d2d7baf524a5fb5_0_5"/>
          <p:cNvCxnSpPr/>
          <p:nvPr/>
        </p:nvCxnSpPr>
        <p:spPr>
          <a:xfrm flipH="1" rot="10800000">
            <a:off x="343450" y="850525"/>
            <a:ext cx="8471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40" name="Google Shape;240;h5d2d7baf524a5fb5_0_5" title="스크린샷 2026-10-24 오후 11.04.5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450" y="1123176"/>
            <a:ext cx="7499224" cy="266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c0a9520827_0_6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18"/>
              <a:buNone/>
            </a:pPr>
            <a:r>
              <a:rPr b="1" lang="ko"/>
              <a:t>딥러닝 프레임워크</a:t>
            </a:r>
            <a:endParaRPr b="1" sz="1133">
              <a:solidFill>
                <a:schemeClr val="dk2"/>
              </a:solidFill>
            </a:endParaRPr>
          </a:p>
        </p:txBody>
      </p:sp>
      <p:sp>
        <p:nvSpPr>
          <p:cNvPr id="246" name="Google Shape;246;g3c0a9520827_0_6"/>
          <p:cNvSpPr txBox="1"/>
          <p:nvPr>
            <p:ph idx="1" type="body"/>
          </p:nvPr>
        </p:nvSpPr>
        <p:spPr>
          <a:xfrm>
            <a:off x="311700" y="958307"/>
            <a:ext cx="8520600" cy="40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인공신경망을 쉽게 구축하고 학습할 수 있도록 돕는 소프트웨어 라이브러리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300">
                <a:solidFill>
                  <a:schemeClr val="dk1"/>
                </a:solidFill>
              </a:rPr>
              <a:t>대표적인 딥러닝 프레임워크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TensorFlow</a:t>
            </a:r>
            <a:r>
              <a:rPr lang="ko" sz="1100">
                <a:solidFill>
                  <a:schemeClr val="dk1"/>
                </a:solidFill>
              </a:rPr>
              <a:t>: Google에서 개발한 오픈 소스 딥러닝 프레임워크. Keras라는 고수준 API를 제공하여 딥러닝 모델을 쉽게 구축가능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대표 라이브러리 : Keras, TensorFlow Lite, TensorFlow Serving, TensorFlow.js, TensorFlow Extended(TFX - MLOps 플랫폼)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/>
              <a:t>모바일(Android/iOS) 및 웹 배포가 강점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PyTorch</a:t>
            </a:r>
            <a:r>
              <a:rPr lang="ko" sz="1100">
                <a:solidFill>
                  <a:schemeClr val="dk1"/>
                </a:solidFill>
              </a:rPr>
              <a:t>:Meta(Facebook)에서 개발한 오픈 소스 딥러닝 프레임워크.  동적 계산 그래프를 사용하여 유연하고 직관적인 모델 개발이 가능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대표 라이브러리 : torchvision, torchaudio, torchtext, PyTorch Lightning(학습고도화), Hugging Face Transformers, Detectron2, Ultralytics YOLO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/>
              <a:t>AI 연구 논문의 예제 대부분이 PyTorch로 제공</a:t>
            </a:r>
            <a:endParaRPr sz="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300">
                <a:solidFill>
                  <a:schemeClr val="dk1"/>
                </a:solidFill>
              </a:rPr>
              <a:t>딥러닝 프레임워크의 특징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자동 미분</a:t>
            </a:r>
            <a:r>
              <a:rPr lang="ko" sz="1100">
                <a:solidFill>
                  <a:schemeClr val="dk1"/>
                </a:solidFill>
              </a:rPr>
              <a:t>: 신경망 학습에 필요한 미분(기울기)을 자동으로 계산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GPU 가속</a:t>
            </a:r>
            <a:r>
              <a:rPr lang="ko" sz="1100">
                <a:solidFill>
                  <a:schemeClr val="dk1"/>
                </a:solidFill>
              </a:rPr>
              <a:t>: GPU를 사용하여 딥러닝 모델의 학습 및 추론 속도를 높일 수 있음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다양한 모델 및 레이어 제공</a:t>
            </a:r>
            <a:r>
              <a:rPr lang="ko" sz="1100">
                <a:solidFill>
                  <a:schemeClr val="dk1"/>
                </a:solidFill>
              </a:rPr>
              <a:t>: CNN, RNN 등 다양한 딥러닝 모델과 레이어를 제공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모델 저장 및 불러오기</a:t>
            </a:r>
            <a:r>
              <a:rPr lang="ko" sz="1100">
                <a:solidFill>
                  <a:schemeClr val="dk1"/>
                </a:solidFill>
              </a:rPr>
              <a:t>: 학습된 모델을 저장하고, 다시 불러와서 사용 가능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cxnSp>
        <p:nvCxnSpPr>
          <p:cNvPr id="247" name="Google Shape;247;g3c0a9520827_0_6"/>
          <p:cNvCxnSpPr/>
          <p:nvPr/>
        </p:nvCxnSpPr>
        <p:spPr>
          <a:xfrm flipH="1" rot="10800000">
            <a:off x="343450" y="850525"/>
            <a:ext cx="8471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h5d2d7baf524a5fb5_0_115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18"/>
              <a:buNone/>
            </a:pPr>
            <a:r>
              <a:rPr b="1" lang="ko"/>
              <a:t>실습순서</a:t>
            </a:r>
            <a:endParaRPr b="1" sz="1133">
              <a:solidFill>
                <a:schemeClr val="dk2"/>
              </a:solidFill>
            </a:endParaRPr>
          </a:p>
        </p:txBody>
      </p:sp>
      <p:sp>
        <p:nvSpPr>
          <p:cNvPr id="253" name="Google Shape;253;h5d2d7baf524a5fb5_0_115"/>
          <p:cNvSpPr txBox="1"/>
          <p:nvPr>
            <p:ph idx="1" type="body"/>
          </p:nvPr>
        </p:nvSpPr>
        <p:spPr>
          <a:xfrm>
            <a:off x="311700" y="958307"/>
            <a:ext cx="8520600" cy="40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400">
                <a:solidFill>
                  <a:schemeClr val="dk1"/>
                </a:solidFill>
              </a:rPr>
              <a:t>1. </a:t>
            </a:r>
            <a:r>
              <a:rPr b="1" lang="ko" sz="1400">
                <a:solidFill>
                  <a:schemeClr val="dk1"/>
                </a:solidFill>
              </a:rPr>
              <a:t>파이토치 </a:t>
            </a:r>
            <a:endParaRPr b="1" sz="14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1. 파이토치 기본</a:t>
            </a:r>
            <a:endParaRPr sz="11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2. 회귀 Regression ( ANN, DNN )</a:t>
            </a:r>
            <a:endParaRPr sz="11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3. 분류 Classification ( 이진분류, 다중분류 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300">
                <a:solidFill>
                  <a:schemeClr val="dk1"/>
                </a:solidFill>
              </a:rPr>
              <a:t>2. Tensorflow 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	1. 회귀 Regression ( 선형, 비선형, 다중 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	2. 분류 Classification ( 이진분류, 다중분류 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cxnSp>
        <p:nvCxnSpPr>
          <p:cNvPr id="254" name="Google Shape;254;h5d2d7baf524a5fb5_0_115"/>
          <p:cNvCxnSpPr/>
          <p:nvPr/>
        </p:nvCxnSpPr>
        <p:spPr>
          <a:xfrm flipH="1" rot="10800000">
            <a:off x="343450" y="850525"/>
            <a:ext cx="8471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