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F8618D-A9F0-40FF-A9DB-535A7DF08EE6}">
  <a:tblStyle styleId="{ECF8618D-A9F0-40FF-A9DB-535A7DF08E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8D1EDD5-87AE-424F-8534-30BEDD85BAB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0ac47c347a6d9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h30ac47c347a6d9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30ac47c347a6d9d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h30ac47c347a6d9d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30ac47c347a6d9d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h30ac47c347a6d9d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30ac47c347a6d9d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h30ac47c347a6d9d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13500"/>
            <a:ext cx="85206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900"/>
              <a:t>자동 미분 </a:t>
            </a:r>
            <a:r>
              <a:rPr b="1" lang="ko" sz="2000">
                <a:solidFill>
                  <a:schemeClr val="dk2"/>
                </a:solidFill>
              </a:rPr>
              <a:t>Automatic Gradient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</a:t>
            </a:r>
            <a:r>
              <a:rPr b="1" lang="ko"/>
              <a:t>러닝에서의 미분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딥러닝에서 학습하는 과정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1.입력 x를 모델에 넣는다.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2.예측값을 얻는다.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3.정답과 비교해 오차(loss)를 계산한다.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4.오차를 줄이도록 모델의 가중치를 수정한다.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여기서 4번을 하려면 미분(기울기)이 필요함.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미분이 “가중치를 어느 방향으로 움직이면 오차가 줄어드는지” 알려주기 때문에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발밑의 경사가 어느 쪽으로 기울어져 있는지 확인. 바로 이 경사도를 계산하는 도구가 미분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이렇게 미분을 통해 조금씩 오차를 줄여나가는 기법을 </a:t>
            </a:r>
            <a:r>
              <a:rPr b="1" lang="ko" sz="1100">
                <a:solidFill>
                  <a:schemeClr val="dk1"/>
                </a:solidFill>
              </a:rPr>
              <a:t>경사하강법 </a:t>
            </a:r>
            <a:r>
              <a:rPr b="1" lang="ko" sz="900">
                <a:solidFill>
                  <a:schemeClr val="dk1"/>
                </a:solidFill>
              </a:rPr>
              <a:t>Gradient Decent</a:t>
            </a:r>
            <a:r>
              <a:rPr b="1" lang="ko" sz="110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chemeClr val="dk1"/>
                </a:solidFill>
              </a:rPr>
              <a:t>이라고 부름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chemeClr val="dk1"/>
                </a:solidFill>
              </a:rPr>
              <a:t>경사하강법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1"/>
                </a:solidFill>
              </a:rPr>
              <a:t>오차의 값이 낮아지는 방향(기울기의 반대 방향)으로 독립변수(가중치)를 조금씩 이동시켜 비용 함수(손실 함수)의 최솟값</a:t>
            </a:r>
            <a:r>
              <a:rPr lang="ko" sz="1100">
                <a:solidFill>
                  <a:schemeClr val="dk1"/>
                </a:solidFill>
              </a:rPr>
              <a:t>을 찾는 반복적인 1차 최적화 알고리즘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61" name="Google Shape;61;p1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2" name="Google Shape;62;p14" title="pic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425" y="920025"/>
            <a:ext cx="3580724" cy="212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미분을 통한 가중치 조정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예를 들어 가중치가 하나뿐이라고 단순화하고,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오차가 Loss(w) = (w-3)^2 라고 할때 이 함수는 (w=3)에서 오차가 가장 작음.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미분하면 Loss(w)/dx =2(w-3)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만약 현재 가중치w가 5라면 Loss(w)/dx= 2(5-3)=4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기울기가 양수라는 것은 쉽게 말하면, w를 증가시키면 Loss가 증가한다는 것이니 반대쪽으로 가야함. 그러니 w값을 줄여야 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가중치를 반대 방향으로 수정. 이때 너무 확 값을 바꾸면 최소점을 넘어갈수도 있어서 조금씩 조정하기 위해 학습률을 적용함.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현재 가중치 w=5 이고 기울기가 4, 학습율을 0.1 로 지정했다면..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5 - 0.1 * 4 = 4.6 (이 값이 다음 가중치)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즉, 가중치값이 5→ 4.6 → 4.28 → 4.024 → … → 3 으로 조정되는 것임.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반대로 현재 w=1이라면 미분값은 2(1-3)=-4 음수가 되므로 반대방향으로 w를 증가시켜야 오차가 감소.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이런식으로 모델의 가중치를 수정하고 있음.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사람이 직접 미분한다면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y = x² ==&gt; dy/dx = 2x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만약 x가 2였다면 기울기는 4 가 구해지는 것임.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근데 이 x가 수백,수척 개라면 가중치도 그만큼 필요함.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이 미분계산을 직접 사람이 해서 업데이트 할 필요 없이 pytorch의 autograd 가 자동 미분함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9" name="Google Shape;69;p1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0" name="Google Shape;70;p15"/>
          <p:cNvGraphicFramePr/>
          <p:nvPr/>
        </p:nvGraphicFramePr>
        <p:xfrm>
          <a:off x="5019687" y="104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{ECF8618D-A9F0-40FF-A9DB-535A7DF08EE6}</a:tableStyleId>
              </a:tblPr>
              <a:tblGrid>
                <a:gridCol w="430800"/>
                <a:gridCol w="430800"/>
              </a:tblGrid>
              <a:tr h="17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/>
                        <a:t>x</a:t>
                      </a:r>
                      <a:endParaRPr b="1"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800"/>
                        <a:t>y</a:t>
                      </a:r>
                      <a:endParaRPr b="1" sz="800"/>
                    </a:p>
                  </a:txBody>
                  <a:tcPr marT="91425" marB="91425" marR="91425" marL="91425" anchor="ctr"/>
                </a:tc>
              </a:tr>
              <a:tr h="16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600"/>
                        <a:t>1</a:t>
                      </a:r>
                      <a:endParaRPr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600"/>
                        <a:t>3</a:t>
                      </a:r>
                      <a:endParaRPr sz="600"/>
                    </a:p>
                  </a:txBody>
                  <a:tcPr marT="91425" marB="91425" marR="91425" marL="91425" anchor="ctr"/>
                </a:tc>
              </a:tr>
              <a:tr h="16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600"/>
                        <a:t>2</a:t>
                      </a:r>
                      <a:endParaRPr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600"/>
                        <a:t>6</a:t>
                      </a:r>
                      <a:endParaRPr sz="600"/>
                    </a:p>
                  </a:txBody>
                  <a:tcPr marT="91425" marB="91425" marR="91425" marL="91425" anchor="ctr"/>
                </a:tc>
              </a:tr>
              <a:tr h="16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600"/>
                        <a:t>3</a:t>
                      </a:r>
                      <a:endParaRPr sz="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600"/>
                        <a:t>9</a:t>
                      </a:r>
                      <a:endParaRPr sz="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1" name="Google Shape;71;p15"/>
          <p:cNvGraphicFramePr/>
          <p:nvPr/>
        </p:nvGraphicFramePr>
        <p:xfrm>
          <a:off x="6049236" y="101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{D8D1EDD5-87AE-424F-8534-30BEDD85BAB4}</a:tableStyleId>
              </a:tblPr>
              <a:tblGrid>
                <a:gridCol w="657300"/>
                <a:gridCol w="754600"/>
                <a:gridCol w="608575"/>
                <a:gridCol w="645675"/>
              </a:tblGrid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가중치 (w)</a:t>
                      </a:r>
                      <a:endParaRPr sz="800"/>
                    </a:p>
                  </a:txBody>
                  <a:tcPr marT="36000" marB="36000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예측값 (y)</a:t>
                      </a:r>
                      <a:endParaRPr sz="800"/>
                    </a:p>
                  </a:txBody>
                  <a:tcPr marT="36000" marB="36000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실제값</a:t>
                      </a:r>
                      <a:endParaRPr sz="800"/>
                    </a:p>
                  </a:txBody>
                  <a:tcPr marT="36000" marB="36000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MSE</a:t>
                      </a:r>
                      <a:endParaRPr sz="800"/>
                    </a:p>
                  </a:txBody>
                  <a:tcPr marT="36000" marB="36000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T="36000" marB="36000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T="36000" marB="36000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T="36000" marB="36000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T="36000" marB="36000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T="36000" marB="36000" marR="91425" marL="91425" anchor="ctr"/>
                </a:tc>
              </a:tr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</a:t>
                      </a:r>
                      <a:endParaRPr sz="800"/>
                    </a:p>
                  </a:txBody>
                  <a:tcPr marT="36000" marB="36000" marR="91425" marL="91425" anchor="ctr"/>
                </a:tc>
              </a:tr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</a:t>
                      </a:r>
                      <a:endParaRPr sz="800"/>
                    </a:p>
                  </a:txBody>
                  <a:tcPr marT="36000" marB="36000" marR="91425" marL="91425" anchor="ctr"/>
                </a:tc>
              </a:tr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5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</a:t>
                      </a:r>
                      <a:endParaRPr sz="800"/>
                    </a:p>
                  </a:txBody>
                  <a:tcPr marT="36000" marB="36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4</a:t>
                      </a:r>
                      <a:endParaRPr sz="800"/>
                    </a:p>
                  </a:txBody>
                  <a:tcPr marT="36000" marB="36000" marR="91425" marL="91425" anchor="ctr"/>
                </a:tc>
              </a:tr>
            </a:tbl>
          </a:graphicData>
        </a:graphic>
      </p:graphicFrame>
      <p:pic>
        <p:nvPicPr>
          <p:cNvPr id="72" name="Google Shape;72;p15" title="스크린샷 2026-10-25 오후 9.52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8848" y="2355775"/>
            <a:ext cx="484253" cy="194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스크린샷 2026-10-25 오후 9.53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8327" y="2620422"/>
            <a:ext cx="644762" cy="154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스크린샷 2026-10-25 오후 9.53.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776" y="2881496"/>
            <a:ext cx="861589" cy="194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스크린샷 2026-10-25 오후 9.53.5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3774" y="3182792"/>
            <a:ext cx="861591" cy="512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파이토치의 자동 미분</a:t>
            </a:r>
            <a:endParaRPr b="1" sz="1133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사람이 직접 미분한다면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만약 x가 2였다면 기울기는 4 가 구해지는 것임.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근데 이 x가 수백,수척 개라면 가중치도 그만큼 필요함.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이 미분계산을 직접 사람이 해서 업데이트 할 필요 없이 </a:t>
            </a:r>
            <a:r>
              <a:rPr b="1" lang="ko" sz="1100">
                <a:solidFill>
                  <a:schemeClr val="dk1"/>
                </a:solidFill>
              </a:rPr>
              <a:t>pytorch의 autograd 가 자동 미분</a:t>
            </a:r>
            <a:r>
              <a:rPr lang="ko" sz="1100">
                <a:solidFill>
                  <a:schemeClr val="dk1"/>
                </a:solidFill>
              </a:rPr>
              <a:t>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82" name="Google Shape;82;p16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" name="Google Shape;83;p16" title="스크린샷 2026-10-25 오후 9.59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50" y="1362400"/>
            <a:ext cx="203513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