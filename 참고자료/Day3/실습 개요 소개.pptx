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71336E-FF9F-4A5D-8291-A1A48D1834B2}">
  <a:tblStyle styleId="{4771336E-FF9F-4A5D-8291-A1A48D1834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9301dfcdd8ee8e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h69301dfcdd8ee8e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69301dfcdd8ee8e4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h69301dfcdd8ee8e4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1707685f933dcd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h1707685f933dcd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69301dfcdd8ee8e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h69301dfcdd8ee8e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9301dfcdd8ee8e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h69301dfcdd8ee8e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69301dfcdd8ee8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h69301dfcdd8ee8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69301dfcdd8ee8e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h69301dfcdd8ee8e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69301dfcdd8ee8e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h69301dfcdd8ee8e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9301dfcdd8ee8e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h69301dfcdd8ee8e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9301dfcdd8ee8e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h69301dfcdd8ee8e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69301dfcdd8ee8e4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h69301dfcdd8ee8e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69301dfcdd8ee8e4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h69301dfcdd8ee8e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69301dfcdd8ee8e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h69301dfcdd8ee8e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9301dfcdd8ee8e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h69301dfcdd8ee8e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66117bbf674820d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h66117bbf674820d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66117bbf674820d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h66117bbf674820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66117bbf674820d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h66117bbf674820d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66117bbf674820d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h66117bbf674820d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66117bbf674820d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h66117bbf674820d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66117bbf674820d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h66117bbf674820d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66117bbf674820d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h66117bbf674820d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66117bbf674820d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h66117bbf674820d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66117bbf674820d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h66117bbf674820d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66117bbf674820d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h66117bbf674820d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66117bbf674820d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h66117bbf674820d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66117bbf674820d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h66117bbf674820d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13500"/>
            <a:ext cx="85206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900"/>
              <a:t>실습 개요 소개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실습순서</a:t>
            </a:r>
            <a:endParaRPr b="1" sz="2000">
              <a:solidFill>
                <a:schemeClr val="dk2"/>
              </a:solidFill>
            </a:endParaRPr>
          </a:p>
        </p:txBody>
      </p:sp>
      <p:cxnSp>
        <p:nvCxnSpPr>
          <p:cNvPr id="60" name="Google Shape;60;p1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/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</a:rPr>
              <a:t>1. 파이토치 </a:t>
            </a:r>
            <a:endParaRPr b="1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</a:rPr>
              <a:t>1. 파이토치 기본</a:t>
            </a:r>
            <a:endParaRPr sz="11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</a:rPr>
              <a:t>2. 회귀 Regression ( ANN, DNN )</a:t>
            </a:r>
            <a:endParaRPr sz="11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</a:rPr>
              <a:t>3. 분류 Classification ( 이진분류, 다중분류 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00000"/>
                </a:solidFill>
              </a:rPr>
              <a:t>2. Tensorflow </a:t>
            </a:r>
            <a:endParaRPr b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</a:rPr>
              <a:t>	1. 회귀 Regression ( 선형, 비선형, 다중 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</a:rPr>
              <a:t>	2. 분류 Classification ( 이진분류, 다중분류 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20"/>
              <a:t>PyTorch 00번 실습 - </a:t>
            </a:r>
            <a:r>
              <a:rPr b="1" lang="ko" sz="2020"/>
              <a:t>파이토치 기본 - torch 모듈 사용</a:t>
            </a:r>
            <a:endParaRPr b="1" sz="52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0. 파이토파이터치 모듈 사용  </a:t>
            </a:r>
            <a:r>
              <a:rPr lang="ko" sz="1000"/>
              <a:t>-- colab 은 이미 pytorch 모듈이 설치된 상태.</a:t>
            </a:r>
            <a:r>
              <a:rPr lang="ko" sz="1000">
                <a:solidFill>
                  <a:schemeClr val="dk1"/>
                </a:solidFill>
              </a:rPr>
              <a:t>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1. </a:t>
            </a:r>
            <a:r>
              <a:rPr lang="ko" sz="1000">
                <a:solidFill>
                  <a:schemeClr val="dk1"/>
                </a:solidFill>
              </a:rPr>
              <a:t>tensor 자료형 : PyTorch의 가장 중요한 자료형</a:t>
            </a:r>
            <a:r>
              <a:rPr lang="ko" sz="900"/>
              <a:t> ( 파이토치 모델이 학습할 수 있는 데이터의 자료형 )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/>
              <a:t>  </a:t>
            </a:r>
            <a:r>
              <a:rPr lang="ko" sz="900"/>
              <a:t>   NumPy의 ndarray와 거의 비슷하지만 [GPU 사용 가능, 자동미분 가능] 이라는 차이가 있음</a:t>
            </a:r>
            <a:endParaRPr sz="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2. tensor 데이터 다루기, 자료형 변환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rgbClr val="1F1F1F"/>
                </a:solidFill>
                <a:highlight>
                  <a:srgbClr val="FFFFFF"/>
                </a:highlight>
              </a:rPr>
              <a:t>수행과제</a:t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660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F1F1F"/>
                </a:solidFill>
                <a:highlight>
                  <a:schemeClr val="lt1"/>
                </a:highlight>
              </a:rPr>
              <a:t>교재(딥러닝 텐서플로 교과서)</a:t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200">
                <a:solidFill>
                  <a:srgbClr val="1F1F1F"/>
                </a:solidFill>
                <a:highlight>
                  <a:schemeClr val="lt1"/>
                </a:highlight>
              </a:rPr>
              <a:t>1장 ~ 03장 까지 읽어보기 – 딥러닝기초와 개발환경, 머신러닝 핵심 알고리즘 (~ p.112)</a:t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0" marR="660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F1F1F"/>
                </a:solidFill>
                <a:highlight>
                  <a:schemeClr val="lt1"/>
                </a:highlight>
              </a:rPr>
              <a:t>교재(다양한 프로젝트로 끝장내는 파이토치 딥러닝)</a:t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200">
                <a:solidFill>
                  <a:srgbClr val="1F1F1F"/>
                </a:solidFill>
                <a:highlight>
                  <a:schemeClr val="lt1"/>
                </a:highlight>
              </a:rPr>
              <a:t>PART1. chapter 01 ~ 02 까지 읽고 예제 따라하기 (~ p.59)</a:t>
            </a:r>
            <a:endParaRPr sz="1200">
              <a:solidFill>
                <a:srgbClr val="1F1F1F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400">
                <a:solidFill>
                  <a:schemeClr val="dk1"/>
                </a:solidFill>
              </a:rPr>
              <a:t>NEXT...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인공신경망 ANN 입문 및 심층신경망(DNN)으로 머신러닝에서 수행했던 [회귀,분류]모델 만들어보기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68" name="Google Shape;68;p1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20"/>
              <a:t>PyTorch 01번 실습 - ANN </a:t>
            </a:r>
            <a:r>
              <a:rPr b="1" lang="ko" sz="2020"/>
              <a:t>맛보기</a:t>
            </a:r>
            <a:r>
              <a:rPr b="1" lang="ko" sz="2020"/>
              <a:t> - </a:t>
            </a:r>
            <a:r>
              <a:rPr b="1" lang="ko" sz="2020"/>
              <a:t>시험점수 </a:t>
            </a:r>
            <a:r>
              <a:rPr b="1" lang="ko" sz="2020"/>
              <a:t>예측</a:t>
            </a:r>
            <a:endParaRPr b="1" sz="52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인공 신경망으로 [공부시간]에 따른 [시험점수] 예측 모델 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1개의 feature(공부시간)를 기반으로 시험점수를 예측하는 가장 단순한 인공신경망(ANN) 모델 만들기 - 단층 퍼셉트론을 이용한 선형회귀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 : </a:t>
            </a:r>
            <a:r>
              <a:rPr lang="ko" sz="1000">
                <a:solidFill>
                  <a:schemeClr val="dk1"/>
                </a:solidFill>
              </a:rPr>
              <a:t>공부시간 1~5시간에 따른 시험점수 5개 데이터 준비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1개의 특성 입력: </a:t>
            </a:r>
            <a:r>
              <a:rPr lang="ko" sz="1000">
                <a:solidFill>
                  <a:schemeClr val="dk1"/>
                </a:solidFill>
              </a:rPr>
              <a:t>공부시간(x): 1, 2, 3, 4, 5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선형회귀 nn.Linear(1, 1)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입력값 1개를 받아 시험점수 1개 예측: 예측 점수 = 공부시간 × 가중치(w) + 편향(b)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/>
              <a:t>처음에는 임의의 가중치와 편향으로 예측하므로 실제 시험점수와 오차 발생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[손실함수] MSELoss - 예측 오차 계산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예측한 시험점수와 실제 시험점수의 차이를 평균제곱오차(MSE)로 계산 - 얼마나 틀렸는지 평가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[역전파] backward() - 기울기 계산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오차를 줄이기 위해 가중치(w)와 편향(b)을 어느 방향으로 얼마나 수정해야 하는지 기울기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[최적화] optimizer.step() - 가중치 갱신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경사하강법을 이용하여 오차가 줄어드는 방향으로 가중치와 편향 수정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[반복 학습] Epoch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 → 오차 계산 → 역전파 → 가중치 갱신 과정을 반복하여 공부시간과 시험점수의 관계를 학습하고 최적의 회귀 직선 찾기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75" name="Google Shape;75;p1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01번 실습 - ANN 맛보기 - 시험점수 예측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scikit-learn의 LinearRegression은 fit()으로 회귀계수를 구하지만,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PyTorch는 </a:t>
            </a:r>
            <a:r>
              <a:rPr b="1" lang="ko" sz="1100">
                <a:solidFill>
                  <a:schemeClr val="dk1"/>
                </a:solidFill>
              </a:rPr>
              <a:t>순전파 → 손실 계산 → 역전파 → 가중치 갱신</a:t>
            </a:r>
            <a:r>
              <a:rPr lang="ko" sz="1100">
                <a:solidFill>
                  <a:schemeClr val="dk1"/>
                </a:solidFill>
              </a:rPr>
              <a:t>이라는 신경망 학습 과정을 </a:t>
            </a:r>
            <a:r>
              <a:rPr b="1" lang="ko" sz="1100">
                <a:solidFill>
                  <a:schemeClr val="dk1"/>
                </a:solidFill>
              </a:rPr>
              <a:t>직접 구현</a:t>
            </a:r>
            <a:r>
              <a:rPr lang="ko" sz="1100">
                <a:solidFill>
                  <a:schemeClr val="dk1"/>
                </a:solidFill>
              </a:rPr>
              <a:t>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단순한 선형회귀부터 신경망의 학습 원리를 이해하고, 이후 은닉층을 추가하여 복잡한 패턴을 학습하는 DNN(심층신경망)으로 확장하기 위한 기초 실습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400">
                <a:solidFill>
                  <a:schemeClr val="dk1"/>
                </a:solidFill>
              </a:rPr>
              <a:t>NEXT...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인공신경망 ANN 입문 및 심층신경망(DNN)으로 머신러닝에서 수행했던 [회귀,분류]모델 만들어보기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82" name="Google Shape;82;p17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02번 실습 - </a:t>
            </a:r>
            <a:r>
              <a:rPr b="1" lang="ko" sz="2000"/>
              <a:t>DNN Regression 자전거대여량 예측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[시간,기온,습도]에 따른 [자전거대여 수요]예측 모델만들기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3개의 feature들을 기반으로 가능한 다양한 특징을 만들어내자 - 자동 특성 추출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 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3개의 특성 입력: 시간, 기온 , 습도                                            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파생 특성 layer  (3, 256)  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3개받아 256개의 특성 만들기: 퇴근시간, 평일, 월요일, 화요일, ...온도 변화, 습도 변화, 비 영향 ......등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#2] 특성조합 layer   (256,128)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256개의 특성을 조합하여 128개의 특성으로 만들기 : 평일 출근 수요, 주말 여가 수요, 날씨 민감도                       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#3] 특성조합 layer   (128,64)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최종적으로 대여량을 결정하는 핵심 요인 64개의 특성 만들기: 출퇴근 수요 강도, 외출 친화도, 대여소 혼잡도 예상                      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64개의 특성을 기반으로 다중선형회귀를 수행한 결과 출력: 자전거대여 수요                                                 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머신러닝에서 데이터셋을 분석하여 파생변수 만들고 주성분 분석하여 줄이고 하던 개발자의 특성공학 Feature Engineering 작업을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딥러닝의 다층 퍼셉트론으로 알아서 </a:t>
            </a:r>
            <a:r>
              <a:rPr b="1" lang="ko" sz="1000">
                <a:solidFill>
                  <a:schemeClr val="dk1"/>
                </a:solidFill>
              </a:rPr>
              <a:t>자동 특성 추출</a:t>
            </a:r>
            <a:endParaRPr b="1" sz="1000"/>
          </a:p>
        </p:txBody>
      </p:sp>
      <p:cxnSp>
        <p:nvCxnSpPr>
          <p:cNvPr id="89" name="Google Shape;89;p18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02번 실습 - DNN Regression 자전거대여량 예측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rgbClr val="1F1F1F"/>
                </a:solidFill>
                <a:highlight>
                  <a:srgbClr val="FFFFFF"/>
                </a:highlight>
              </a:rPr>
              <a:t>수행과제</a:t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660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교재(다양한 프로젝트로 끝장내는 파이토치 딥러닝)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PART1. chapter 03 읽어보기. ANN의 개념과 한계를 XOR문제로 소개. (~ p.76)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PART2. chapter 02 당뇨병 진행도 예측. 따라 구현해보기 ( p.95 ~ p.104 ) ... chapter01은 굳이 안해봐도 됨.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ko" sz="1200">
                <a:solidFill>
                  <a:srgbClr val="1F1F1F"/>
                </a:solidFill>
                <a:highlight>
                  <a:srgbClr val="FFFFFF"/>
                </a:highlight>
              </a:rPr>
              <a:t>코드를 직접 써보면서 딥러닝모델 코드 익히기(실무에서는 바이브코딩으로 하기에 숙달까지는 필요없음)</a:t>
            </a:r>
            <a:endParaRPr i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400">
                <a:solidFill>
                  <a:schemeClr val="dk1"/>
                </a:solidFill>
              </a:rPr>
              <a:t>NEXT...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심층신경망(DNN)으로 지도학습 중 분류모델 만들어보기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96" name="Google Shape;96;p19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03번 실습 - DNN Classification </a:t>
            </a:r>
            <a:r>
              <a:rPr b="1" lang="ko" sz="2000"/>
              <a:t>이진 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[세포의 크기, 모양, 질감 등 30개 특성]을 분석하여 [유방암 악성/양성] 분류 모델 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30개의 feature들을 기반으로 다양한 특징을 추출하고 조합하여 악성 종양과 양성 종양을 구분하는 패턴 학습하기 - DNN 이진분류(Binary Classification)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 </a:t>
            </a:r>
            <a:r>
              <a:rPr lang="ko" sz="1000">
                <a:solidFill>
                  <a:schemeClr val="dk1"/>
                </a:solidFill>
              </a:rPr>
              <a:t>scikit-learn 유방암 데이터셋 - load_breast_cancer() 사용.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입력 데이터(X): 세포핵의 반지름, 질감, 둘레, 면적, 매끄러움 등 30개 특성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정답 데이터(y): 악성 종양(0), 양성 종양(1)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569개의 샘플을 학습하여 새로운 환자 데이터 분류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30개의 특성 입력: 세포핵의 크기, 형태, 질감, 대칭성, 오목함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파생 특성 layer (30, 64)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30개를 받아 64개의 조합 특성 만들기: 세포 크기 이상 정도, 형태 불규칙성, 표면 거칠기, 세포핵 변형 패턴 등 복합적인 특징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#2] 특성조합 layer (64, 32)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64개의 특성을 조합하여 32개의 핵심 특성 만들기: 크기와 형태의 복합 이상 패턴, 악성 의심 특징의 조합, 양성 종양의 특징 패턴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이진분류 layer (32, 1)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32개의 핵심 특성을 기반으로 최종 1개의 점수(로짓값)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선형변환 y = wx + b의 결과인 로짓값을 Sigmoid 함수로 0~1 사이의 확률로 변환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103" name="Google Shape;103;p20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03번 실습 - DNN Classification 이진 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[Sigmoid] 확률 변환 및 최종 분류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Sigmoid 출력 ≥ 0.5 → 양성 종양(1)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Sigmoid 출력 &lt; 0.5 → 악성 종양(0)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 및 학습] BCEWithLogitsLoss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 로짓값과 실제 정답의 차이를 손실로 계산하고 역전파를 통해 가중치와 편향을 반복적으로 수정하여 분류 성능 개선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Sigmoid + Binary Cross Entropy를 합쳐놓은 Loss 함수. (다중분류는 CrossEntropyLoss)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/>
              <a:t>nn.BCELoss() : 모델의 출력층에 이미 sigmoid 활성함수가 있을때.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/>
              <a:t>nn.BCEWithLogitsLoss() : 모델에 sigmoid 활성화 함수가 없을때.(권장)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/>
              <a:t>권장하는 이유는 수치적 안정성</a:t>
            </a:r>
            <a:r>
              <a:rPr lang="ko" sz="900"/>
              <a:t>(numerical stability)</a:t>
            </a:r>
            <a:r>
              <a:rPr lang="ko" sz="900"/>
              <a:t> : Sigmoid와 BCE를 따로 계산하는 것보다, PyTorch가 둘을 결합해서 계산하는 BCEWithLogitsLoss()가 극단적으로 큰/작은 값에서도 더 안정적으로 계산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머신러닝에서 개발자가 데이터의 특징을 분석하여 파생변수를 만들고 분류에 유용한 특성을 선택하던 Feature Engineering 작업을 DNN의 은닉층에서 자동으로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DNN 선형회귀가 연속적인 수치를 예측하는 모델이었다면, DNN Classification은 여러 은닉층에서 비선형 패턴을 학습하고 Sigmoid 함수로 확률을 계산하여 두 범주 중 하나로 분류하는 모델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NEXT...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머신러닝 수업에 했던 고객이탈가능성 DNN 분류 모델 만들기 추가 실습. 딥러닝은 연산이 많으니 GPU 사용해보기. NVIDIA CUDA 적용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cxnSp>
        <p:nvCxnSpPr>
          <p:cNvPr id="110" name="Google Shape;110;p21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04번 실습/과제 - DNN Classification 고객 탈퇴 여부 예측 (GPU)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[가입기간, 로그인 빈도, 쿠폰 사용, 결제금액, 고객문의]에 따른 [서비스 탈퇴 여부] 예측 모델 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5개의 고객 행동 feature들을 기반으로 다양한 특징을 추출하고 조합하여 서비스 탈퇴 가능성이 높은 고객 분류하기 - DNN 자동 특성 추출 및 이진분류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</a:t>
            </a:r>
            <a:r>
              <a:rPr lang="ko" sz="1000">
                <a:solidFill>
                  <a:schemeClr val="dk1"/>
                </a:solidFill>
              </a:rPr>
              <a:t> 고객 행동 데이터셋 - 머신러닝 실습에서 사용했던 고객 서비스 탈퇴 예측 데이터 활용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tenure_months: 서비스 가입 기간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weekday_login_7days: 최근 7일간 평일 로그인 횟수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coupon_to_purchase_min: 쿠폰 사용 후 구매까지 소요시간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monthly_spend: 월평균 결제금액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support_calls: 고객센터 문의 횟수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churn: 서비스 탈퇴 여부 (0: 유지, 1: 탈퇴)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5개의 고객 행동 특성 입력: 가입기간, 로그인 빈도, 쿠폰 사용 패턴, 결제금액, 고객문의 횟수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파생 특성 layer (5, 64)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5개를 받아 64개의 조합 특성 만들기: 장기 미활동 고객, 구매 전환 속도, 결제 활동성, 고객센터 의존도, 서비스 이용 감소 패턴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#2] 특성조합 layer (64, 32)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64개의 특성을 조합하여 32개의 핵심 특성 만들기: 이탈 위험 행동 패턴, 충성고객 특징, 구매 활동 감소와 고객 불만의 복합 패턴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이진분류 layer (32, 1)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32개의 핵심 특성을 기반으로 최종 1개의 로짓값 계산. 로짓값에 Sigmoid 활성화 함수를 적용하여 고객의 서비스 탈퇴 확률(0~1) 계산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17" name="Google Shape;117;p22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[GPU 가속] CUDA를 활용한 딥러닝 학습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딥러닝은 수많은 가중치와 편향을 반복 계산하므로 병렬 연산에 특화된 GPU를 활용하여 학습 속도 향상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Google Colab에서 NVIDIA T4 GPU 런타임 선택 (VRAM 16GB, CUDA 코어 2,560개)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모델과 학습 데이터를 .to(device)로 GPU 메모리(VRAM)에 이동시켜 연산 수행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구글 코랩(Colab)에서 런타임 유형을 GPU로 변경했더라도(즉, GPU가 있는 학습환경이더라도) 코드에서 명시적으로 GPU를 사용하겠다고 지정하지 않았다면 딥러닝 연산은 CPU로 수행함. 모델 및 데이터를 GPU에서 구동되도록.. GPU의 vRAM으로 이동해서 수행하도록 해야 함.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파이토치(PyTorch)에서 .to("cuda")를 호출하면, 해당 데이터나 모델이 일반 시스템 메모리(RAM)에서 그래픽 카드의 전용 메모리인 VRAM(Video RAM)으로 복사되어 이동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GPU 사용 코드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device = torch.device('cuda' if torch.cuda.is_available() else 'cpu')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 = MyDeepLearningModel().to(device) # GPU로 이동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inputs = torch.randn(32, 3, 224, 224).to(device) # GPU로 이동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outputs = model(inputs) # GPU에서 고속 연산 처리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참고로 "CUDA"는 Nvidia의 고유 기술명칭이기에 학습환경에 사용되는 그래픽카드에 따라 고유기술명을 사용해야함.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23" name="Google Shape;123;p23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04번 실습/과제 - DNN Classification 고객 탈퇴 여부 예측 (GPU)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그래픽카드 제조사별 PyTorch 디바이스 명칭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                                                                       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                           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                               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 및 학습] BCEWithLogitsLoss + 역전파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 로짓값과 실제 탈퇴 여부의 오차를 계산하고, GPU에서 역전파와 가중치 갱신을 반복하여 분류 성능 개선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기존 머신러닝에서 개발자가 고객 행동 데이터를 분석하여 파생변수를 만들고 특성을 선택하던 Feature Engineering 작업을 DNN의 은닉층에서 자동으로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이전 유방암 이진분류 실습의 DNN 구조를 고객 행동 데이터에 적용하고, CPU 중심의 학습에서 CUDA GPU 병렬 연산을 활용하는 딥러닝 학습으로 확장하는 실습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NEXT...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DNN 다중 분류</a:t>
            </a:r>
            <a:endParaRPr sz="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30" name="Google Shape;130;p2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1" name="Google Shape;131;p24"/>
          <p:cNvGraphicFramePr/>
          <p:nvPr/>
        </p:nvGraphicFramePr>
        <p:xfrm>
          <a:off x="378212" y="127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{4771336E-FF9F-4A5D-8291-A1A48D1834B2}</a:tableStyleId>
              </a:tblPr>
              <a:tblGrid>
                <a:gridCol w="2196750"/>
                <a:gridCol w="2196750"/>
                <a:gridCol w="2196750"/>
              </a:tblGrid>
              <a:tr h="32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그래픽카드 제조사 / 환경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가속 기술 이름 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dk1"/>
                          </a:solidFill>
                        </a:rPr>
                        <a:t>PyTorch에서 사용하는 디바이스 문자열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NVIDIA (지포스, 쿼드로 등)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CUDA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.to("cuda")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Apple (MacBook M1/M2/M3/M4 등)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MPS (Metal Performance Shaders)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.to("mps")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AMD (라데온, 인스팅트 등)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ROCm (Radeon Open Compute)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.to("cuda") 또는 .to("hip")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Intel (아크, 데이터센터 GPU 등)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OneAPI / XPU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.to("xpu")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04번 실습/과제 - DNN Classification 고객 탈퇴 여부 예측 (GPU)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05번 실습 - DNN Classification </a:t>
            </a:r>
            <a:r>
              <a:rPr b="1" lang="ko" sz="2000"/>
              <a:t>붓꽃(Iris) 품종 다중 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[꽃받침 길이, 꽃받침 너비, 꽃잎 길이, 꽃잎 너비]에 따른 [붓꽃 3종류] 분류 모델 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4개의 feature들을 기반으로 다양한 특징을 추출하고 조합하여 붓꽃의 품종을 구분하는 패턴 학습하기 - DNN 자동 특성 추출 및 다중분류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[학습 데이터] scikit-learn Iris 데이터셋 - load_iris() 사용 - 150개의 붓꽃 샘플과 4개의 특성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sepal length: 꽃받침 길이(cm), sepal width: 꽃받침 너비(cm)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petal length: 꽃잎 길이(cm), petal width: 꽃잎 너비(cm)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정답(y): 0 = setosa, 1 = versicolor, 2 = virginica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4개의 특성 입력: 꽃받침 길이, 꽃받침 너비, 꽃잎 길이, 꽃잎 너비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파생 특성 layer (4, 32)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4개를 받아 32개의 조합 특성 만들기: 꽃잎과 꽃받침의 크기 비율, 꽃잎의 길쭉한 정도, 꽃받침의 넓이 특성, 꽃잎과 꽃받침의 크기 차이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#2] 특성조합 layer (32, 16)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32개의 특성을 조합하여 16개의 핵심 특성 만들기: 작은 꽃잎과 넓은 꽃받침 패턴, 길고 좁은 꽃잎 패턴, 품종별 꽃잎과 꽃받침의 복합적인 형태 차이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다중분류 layer (16, 3)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16개의 핵심 특성을 기반으로 3개 품종에 대한 로짓값(Logits) 출력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각 품종의 로짓값에 Softmax 활성화 함수를 적용하여 3개 품종에 속할 확률 계산 (전체 확률 합계 = 1)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출력 0: setosa 확률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출력 1: versicolor 확률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출력 2: virginica 확률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39" name="Google Shape;139;p2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5"/>
          <p:cNvSpPr txBox="1"/>
          <p:nvPr/>
        </p:nvSpPr>
        <p:spPr>
          <a:xfrm>
            <a:off x="5653225" y="4228325"/>
            <a:ext cx="31857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PyTorch 05번 실습 - DNN Classification 붓꽃(Iris) 품종 다중 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[Softmax] 확률 변환 및 최종 분류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 품종의 예측 확률 중 가장 높은 값을 가진 품종으로 최종 분류 - argmax()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/>
              <a:t>예: setosa 0.05 / versicolor 0.85 / virginica 0.10 → versicolor(1) 예측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 및 학습] CrossEntropyLoss + 역전파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 품종의 예측 로짓값과 실제 정답을 비교하여 손실을 계산하고 역전파를 통해 가중치와 편향을 반복적으로 수정하여 분류 성능 개선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이전 이진분류에서는 Sigmoid 함수로 하나의 확률을 계산하여 0과 1로 분류했다면,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다중분류에서는 Softmax 함수로 여러 클래스의 확률을 계산하고 가장 높은 확률의 클래스로 분류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DNN의 은닉층에서 꽃잎과 꽃받침의 복합적인 특징을 자동으로 학습하고, 출력층의 노드 수를 분류할 클래스 수(3개)에 맞춰 확장하여 여러 범주를 분류하는 모델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400">
                <a:solidFill>
                  <a:srgbClr val="1F1F1F"/>
                </a:solidFill>
                <a:highlight>
                  <a:srgbClr val="FFFFFF"/>
                </a:highlight>
              </a:rPr>
              <a:t>수행과제</a:t>
            </a:r>
            <a:endParaRPr b="1" sz="1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660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F1F1F"/>
                </a:solidFill>
                <a:highlight>
                  <a:srgbClr val="FFFFFF"/>
                </a:highlight>
              </a:rPr>
              <a:t>교재(다양한 프로젝트로 끝장내는 파이토치 딥러닝)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100">
                <a:solidFill>
                  <a:srgbClr val="1F1F1F"/>
                </a:solidFill>
                <a:highlight>
                  <a:srgbClr val="FFFFFF"/>
                </a:highlight>
              </a:rPr>
              <a:t>PART2. chapter 03 붓꽃(아이리스) 종류 분류 따라 구현해보기 ( p.105 ~ p.112 ) ..</a:t>
            </a:r>
            <a:r>
              <a:rPr lang="ko" sz="800">
                <a:solidFill>
                  <a:srgbClr val="1F1F1F"/>
                </a:solidFill>
                <a:highlight>
                  <a:srgbClr val="FFFFFF"/>
                </a:highlight>
              </a:rPr>
              <a:t>책의 코드가 수업내용과 약간 다른 부분도 있으니 수행해보기</a:t>
            </a:r>
            <a:endParaRPr sz="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ko" sz="1100" u="sng">
                <a:solidFill>
                  <a:srgbClr val="1F1F1F"/>
                </a:solidFill>
                <a:highlight>
                  <a:srgbClr val="FFFFFF"/>
                </a:highlight>
              </a:rPr>
              <a:t>단, GPU에서 모델 학습 및 추론하도록</a:t>
            </a:r>
            <a:endParaRPr b="1" sz="1100" u="sng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ko" sz="1100">
                <a:solidFill>
                  <a:srgbClr val="1F1F1F"/>
                </a:solidFill>
                <a:highlight>
                  <a:srgbClr val="FFFFFF"/>
                </a:highlight>
              </a:rPr>
              <a:t>코드를 직접 써보면서 딥러닝모델 코드 익히기(실무에서는 바이브코딩으로 하기에 숙달까지는 필요없음)</a:t>
            </a:r>
            <a:endParaRPr i="1"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NEXT.. </a:t>
            </a:r>
            <a:r>
              <a:rPr lang="ko" sz="1100">
                <a:solidFill>
                  <a:schemeClr val="dk1"/>
                </a:solidFill>
              </a:rPr>
              <a:t>Tensorflow 모듈로 ANN, DNN 구현해보며 PyTorch와 비교해보기</a:t>
            </a:r>
            <a:endParaRPr sz="300">
              <a:solidFill>
                <a:schemeClr val="dk1"/>
              </a:solidFill>
            </a:endParaRPr>
          </a:p>
        </p:txBody>
      </p:sp>
      <p:cxnSp>
        <p:nvCxnSpPr>
          <p:cNvPr id="147" name="Google Shape;147;p2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</a:t>
            </a:r>
            <a:r>
              <a:rPr b="1" lang="ko" sz="2000"/>
              <a:t> 01번 실습 - </a:t>
            </a:r>
            <a:r>
              <a:rPr b="1" lang="ko" sz="2000"/>
              <a:t>ANN Regression 광고비 대비 매출액 예측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[광고비]에 따른 [매출액] 예측 모델 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1개의 feature(광고비)를 기반으로 매출액을 예측하는 가장 단순한 인공신경망(ANN) 모델 만들기 - 단층 퍼셉트론을 이용한 선형회귀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 광고비와 매출액 데이터셋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광고비에 따른 매출액 데이터를 이용하여 광고비와 매출액의 관계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 데이터(X): 광고비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정답 데이터(y): 매출액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입력과 정답 데이터를 각각 (샘플 수(행개수), 1(열개수)) 형태로 구성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1개의 특성 입력: 광고비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선형회귀 Dense(1)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입력값 1개를 받아 매출액 1개 예측: 예측 매출액 = 광고비 × 가중치(w) + 편향(b)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처음에는 임의의 가중치와 편향으로 예측하므로 실제 매출액과 오차 발생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[모델 구성] TensorFlow Keras Sequential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Sequential()로 신경망을 구성하고 Dense(1)로 출력층 생성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은닉층과 별도의 활성화 함수 없이 입력값을 선형변환하여 연속적인 매출액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154" name="Google Shape;154;p27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27"/>
          <p:cNvSpPr txBox="1"/>
          <p:nvPr/>
        </p:nvSpPr>
        <p:spPr>
          <a:xfrm>
            <a:off x="5653225" y="4228325"/>
            <a:ext cx="31857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 01번 실습 - ANN Regression 광고비 대비 매출액 예측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[손실함수] MSE - 예측 오차 계산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예측한 매출액과 실제 매출액의 차이를 평균제곱오차(MSE)로 계산 - 얼마나 틀렸는지 평가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[최적화] Optimizer - 가중치 갱신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SGD, Adam 등의 최적화 알고리즘을 지정하여 손실을 줄이는 방향으로 가중치와 편향 수정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[반복 학습] Epoch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model.compile()로 손실함수와 최적화 알고리즘을 설정하고, model.fit()으로 지정된 Epoch만큼 반복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 → 오차 계산 → 역전파 → 가중치 갱신 과정을 반복하여 광고비와 매출액의 관계를 학습하고 최적의 회귀 직선 찾기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scikit-learn의 LinearRegression은 fit()으로 회귀계수를 구하지만,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TensorFlow는 손실함수와 최적화 알고리즘, 학습 반복횟수(Epoch)를 지정하여 가중치와 편향을 반복적으로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PyTorch에서는 학습 반복문과 역전파, 가중치 갱신 과정을 직접 구현했다면, TensorFlow Keras에서는 compile()과 fit()으로 학습 과정을 간결하게 구현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NEXT...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광고비는 대부분 비선형 데이터이기에 은닉층을 하나 추가한 인공신경망으로 비선형성을 가진 회귀 인공신경망 ANN 구현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62" name="Google Shape;162;p28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</a:t>
            </a:r>
            <a:r>
              <a:rPr b="1" lang="ko" sz="2000"/>
              <a:t>ensorFlow 02번 실습 ANN Regression 광고비 대비 매출액 비선형 예측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[광고비]에 따른 [매출액]의 비선형 관계를 학습하여 매출액 예측 모델 개선하기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광고비와 매출액은 항상 일정한 비율로 증가하지 않으며, 광고비가 증가할수록 매출 증가 효과가 둔화되는 등 비선형 패턴이 나타날 수 있음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은닉층과 </a:t>
            </a:r>
            <a:r>
              <a:rPr b="1" lang="ko" sz="1000">
                <a:solidFill>
                  <a:schemeClr val="dk1"/>
                </a:solidFill>
              </a:rPr>
              <a:t>ReLU 활성화 함수를 추가</a:t>
            </a:r>
            <a:r>
              <a:rPr lang="ko" sz="1000">
                <a:solidFill>
                  <a:schemeClr val="dk1"/>
                </a:solidFill>
              </a:rPr>
              <a:t>하여 비선형 회귀(Nonlinear Regression) 구현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 광고비와 매출액 데이터셋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이전 ANN 선형회귀 실습에서 사용했던 동일한 데이터 활용  </a:t>
            </a:r>
            <a:r>
              <a:rPr lang="ko" sz="800"/>
              <a:t>동일한 데이터로 선형회귀와 비선형 ANN의 예측 성능 비교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 데이터(X): 광고비,   정답 데이터(y): 매출액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1개의 특성 입력: 광고비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비선형 특성 추출 layer (1, 16)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광고비 1개를 받아 16개의 특성으로 변환하여 광고비와 매출액 사이의 다양한 관계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광고비가 적은 구간, 광고 효과가 큰 구간, 매출 증가가 둔화되는 구간 등 구간별 매출 변화 패턴을 표현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[ReLU 활성화 함수] 비선형성 추가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ReLU(x) = max(0, x)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입력값이 0보다 작으면 0으로 변환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입력값이 0보다 크면 입력값 그대로 출력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출력을 0으로 끊어 구간별로 서로 다른 선형 관계를 만들 수 있도록 함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여러 은닉 뉴런의 ReLU 출력을 조합하여 하나의 직선이 아닌 구간별로 기울기가 달라지는 비선형 예측 함수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169" name="Google Shape;169;p29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9"/>
          <p:cNvSpPr txBox="1"/>
          <p:nvPr/>
        </p:nvSpPr>
        <p:spPr>
          <a:xfrm>
            <a:off x="5653225" y="4228325"/>
            <a:ext cx="31857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 02번 실습 ANN Regression 광고비 대비 매출액 비선형 예측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회귀 layer (16, 1)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은닉층에서 학습한 16개의 특성을 조합하여 최종 매출액 1개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연속적인 매출액을 예측하는 회귀 문제이므로 출력층에는 별도의 활성화 함수 없이 선형변환 수행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[모델 구성] TensorFlow Keras Sequential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Dense(16, activation='relu')로 은닉층 구성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Dense(1)로 최종 매출액 출력층 구성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 및 반복 학습] MSE + Optimizer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 매출액과 실제 매출액의 평균제곱오차(MSE)를 계산하고, 역전파와 최적화 알고리즘으로 가중치와 편향 갱신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model.fit()으로 반복 학습하여 광고비와 매출액의 비선형 관계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이전 ANN 선형회귀에서는 은닉층 없이 하나의 직선(y = wx + b)으로 매출액을 예측했다면,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이번 실습에서는 은닉층과 ReLU 활성화 함수를 추가하여 복잡한 비선형 패턴까지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광고비와 매출액 사이에 비선형 관계가 존재한다면 은닉층을 추가한 ANN이 기존 선형회귀보다 예측 오차를 줄일 수 있음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동일한 데이터에서 은닉층 추가 후의 MSE와 R2</a:t>
            </a:r>
            <a:r>
              <a:rPr lang="ko" sz="1000">
                <a:solidFill>
                  <a:schemeClr val="dk1"/>
                </a:solidFill>
              </a:rPr>
              <a:t>계수와 RMSE 등을 측정하여</a:t>
            </a:r>
            <a:r>
              <a:rPr lang="ko" sz="1000">
                <a:solidFill>
                  <a:schemeClr val="dk1"/>
                </a:solidFill>
              </a:rPr>
              <a:t> 활성화 함수의 역할과 비선형 학습에 따른 성능 개선 효과 확인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NEXT...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F1F1F"/>
                </a:solidFill>
                <a:highlight>
                  <a:srgbClr val="FFFFFF"/>
                </a:highlight>
              </a:rPr>
              <a:t>독립변수가 여러개인 다중선형회귀를 신경망을 더 많이 추가한 심층신경망DNN 으로 구현해보기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177" name="Google Shape;177;p30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</a:t>
            </a:r>
            <a:r>
              <a:rPr b="1" lang="ko" sz="2000"/>
              <a:t>ensorFlow 03번 실습 DNN Regression 자전거대여량 수요 예측 (GPU 활용)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[시간, 기온, 습도]에 따른 [자전거대여 수요] 예측 모델 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3개의 feature들을 기반으로 다양한 파생 특성을 만들고 조합하여 자전거대여량에 영향을 주는 복잡한 패턴 학습하기 - 다층 퍼셉트론을 이용한 심층신경망 회귀 모델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 자전거대여량 데이터셋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시간과 날씨에 따른 자전거대여량 데이터를 이용하여 대여 수요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 데이터(X): 시간, 기온, 습도     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정답 데이터(y): 자전거대여량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 데이터는 (샘플 수, 3) 형태로 구성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3개의 특성 입력: 시간, 기온, 습도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파생 특성 layer (3, 256)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3개를 받아 256개의 조합 특성 만들기: 출퇴근 시간대 영향, 기온에 따른 이용 패턴, 습도가 높은 날의 대여 경향, 시간과 날씨의 상호작용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#2] 특성조합 layer (256, 128)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256개의 특성을 조합하여 128개의 특성으로 만들기: 시간대별 날씨 민감도, 출퇴근 시간의 기온 영향, 쾌적한 날씨의 대여 수요 증가 패턴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#3] 핵심 특성 layer (128, 64)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128개의 특성을 다시 조합하여 대여량 예측에 유용한 64개의 핵심 특성 만들기: 시간대별 수요 강도, 날씨에 따른 대여량 변화, 복합적인 대여 수요 패턴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은닉층에서 만들어지는 파생 특성은 개발자가 직접 정의한 변수가 아니라, 가중치와 편향을 통해 학습되는 수학적인 조합 값으로 실제 의미를 명확히 해석하기 어려움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184" name="Google Shape;184;p31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 03번 실습 DNN Regression 자전거대여량 수요 예측 (GPU 활용)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회귀 layer (64, 1) - Linear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64개의 핵심 특성을 기반으로 최종 자전거대여량 1개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연속적인 수치를 예측하는 회귀 문제이므로 출력층에는 별도의 활성화 함수 없이 선형변환 수행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[모델 구성] TensorFlow Keras Sequential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Dense(256, activation='relu') → Dense(128, activation='relu') → Dense(64, activation='relu') → Dense(1)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3개의 은닉층으로 구성된 다층 퍼셉트론(MLP)을 이용하여 심층신경망(DNN) 구현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[GPU 가속] TensorFlow GPU 병렬 연산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여러 은닉층에서 수많은 가중치와 편향을 계산하므로 GPU를 활용하여 행렬 연산과 역전파 학습 가속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Google Colab에서 GPU 런타임 선택 후 tf.config.list_physical_devices('GPU')로 GPU 인식 확인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TensorFlow는 지원되는 GPU 환경에서 연산을 자동으로 GPU에 배치하여 학습 수행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 및 반복 학습] MSE + Optimizer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 대여량과 실제 대여량의 평균제곱오차(MSE)를 계산하고, 역전파와 최적화 알고리즘으로 가중치와 편향 반복 갱신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기존 머신러닝에서는 개발자가 입력 데이터를 분석하여 파생변수를 만들고 유용한 특성을 선택하는 Feature Engineering 작업을 직접 수행했다면,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DNN에서는 여러 은닉층을 통해 예측에 유용한 복합적인 특징을 자동으로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이전 ANN 비선형회귀가 하나의 은닉층을 사용했다면, 이번 실습에서는 256 → 128 → 64개의 뉴런으로 구성된 3개의 은닉층을 사용하여 복잡한 비선형 관계까지 학습하는 심층신경망(DNN)으로 확장. 다중선형회귀와 DNN 회귀의 예측 성능을 비교하고, 은닉층을 통한 자동 특성 추출과 GPU 가속 학습의 원리 이해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91" name="Google Shape;191;p32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 03번 실습 DNN Regression 자전거대여량 수요 예측 (GPU 활용)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50">
                <a:solidFill>
                  <a:srgbClr val="1F1F1F"/>
                </a:solidFill>
                <a:highlight>
                  <a:srgbClr val="FFFFFF"/>
                </a:highlight>
              </a:rPr>
              <a:t>수행과제</a:t>
            </a:r>
            <a:endParaRPr sz="17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머신러닝에서 실습했던 다중선형회귀 모델 csv 를 DNN Regressoin 으로 예측하기 (04 Mutilple Linear Regression.ipynb)</a:t>
            </a:r>
            <a:b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</a:b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marketing sales data.csv : 범주형 데이터가 포함되어 있으니 One Hot Encoding이 필요하면 전처리 수행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ko" sz="1200">
                <a:solidFill>
                  <a:srgbClr val="1F1F1F"/>
                </a:solidFill>
                <a:highlight>
                  <a:srgbClr val="FFFFFF"/>
                </a:highlight>
              </a:rPr>
              <a:t>교재 : [</a:t>
            </a:r>
            <a:r>
              <a:rPr b="1" i="1" lang="ko" sz="1200">
                <a:solidFill>
                  <a:srgbClr val="1F1F1F"/>
                </a:solidFill>
                <a:highlight>
                  <a:srgbClr val="FFFFFF"/>
                </a:highlight>
              </a:rPr>
              <a:t>딥러닝 텐서플로 교과서</a:t>
            </a:r>
            <a:r>
              <a:rPr i="1" lang="ko" sz="1200">
                <a:solidFill>
                  <a:srgbClr val="1F1F1F"/>
                </a:solidFill>
                <a:highlight>
                  <a:srgbClr val="FFFFFF"/>
                </a:highlight>
              </a:rPr>
              <a:t>]는 분류모델까지 학습 후 수행</a:t>
            </a:r>
            <a:endParaRPr i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NEXT...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F1F1F"/>
                </a:solidFill>
                <a:highlight>
                  <a:srgbClr val="FFFFFF"/>
                </a:highlight>
              </a:rPr>
              <a:t>DNN 분류모델 구현해보기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98" name="Google Shape;198;p33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</a:t>
            </a:r>
            <a:r>
              <a:rPr b="1" lang="ko" sz="2000"/>
              <a:t>ensorFlow 04번 실습 DNN Classification 유방암 진단 이진분류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딥러닝으로 [세포핵의 크기, 모양, 질감 등 30개 특성]을 분석하여 [유방암 악성/양성] 분류 모델 만들기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30개의 feature들을 기반으로 다양한 특징을 추출하고 조합하여 악성 종양과 양성 종양을 구분하는 패턴 학습하기 - DNN 자동 특성 추출 및 이진분류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 scikit-learn 유방암 데이터셋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load_breast_cancer() 데이터셋 사용 - 569개의 샘플과 30개의 입력 특성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입력 데이터(X): 세포핵의 반지름, 질감, 둘레, 면적, 매끄러움, 대칭성 등 30개 특성  - </a:t>
            </a:r>
            <a:r>
              <a:rPr lang="ko" sz="800"/>
              <a:t>입력 데이터는 (샘플 수, 30) 형태로 구성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정답 데이터(y): 악성 종양(0), 양성 종양(1)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 Input(shape=(30,))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30개의 특성 입력: 세포핵의 크기, 형태, 질감, 대칭성, 오목함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파생 특성 layer (30, 64)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30개를 받아 64개의 조합 특성 만들기: 세포 크기 이상 정도, 형태 불규칙성, 표면 거칠기, 세포핵 변형 패턴 등 복합적인 특징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#2] 특성조합 layer (64, 32)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64개의 특성을 조합하여 32개의 핵심 특성 만들기: 크기와 형태의 복합 이상 패턴, 악성 의심 특징의 조합, 양성 종양의 특징 패턴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이진분류 layer (32, 1) + Sigmoid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32개의 핵심 특성을 기반으로 최종 1개의 로짓값(Logit)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로짓값에 Sigmoid 활성화 함수를 적용하여 0~1 사이의 확률값으로 변환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Sigmoid 출력 ≥ 0.5 → 양성 종양(1) 예측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Sigmoid 출력 &lt; 0.5 → 악성 종양(0) 예측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205" name="Google Shape;205;p3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 04번 실습 DNN Classification 유방암 진단 이진분류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[모델 구성] TensorFlow Keras Sequential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Input(shape=(30,)) → Dense(64, activation='relu') → Dense(32, activation='relu') → Dense(1, activation='sigmoid')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2개의 은닉층에서 비선형 특성을 학습하고 출력층의 Sigmoid 함수로 최종 이진분류 확률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 및 반복 학습] BinaryCrossentropy + Optimizer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 확률과 실제 정답의 차이를 이진 교차 엔트로피(Binary Cross Entropy)로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model.compile()로 손실함수와 최적화 알고리즘을 설정하고 model.fit()으로 역전파와 가중치 갱신을 반복하여 분류 성능 개선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기존 머신러닝에서는 개발자가 세포핵의 다양한 특징을 분석하여 파생변수를 만들거나 중요한 특성을 선택하는 Feature Engineering 작업을 직접 수행했다면, DNN에서는 여러 은닉층을 통해 분류에 유용한 복합적인 특징을 자동으로 학습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이전 DNN Regression이 연속적인 수치를 예측했다면, 이번 DNN Classification은 출력층에 </a:t>
            </a:r>
            <a:r>
              <a:rPr b="1" lang="ko" sz="1000">
                <a:solidFill>
                  <a:schemeClr val="dk1"/>
                </a:solidFill>
              </a:rPr>
              <a:t>Sigmoid 활성화 함수를 추가하여 0~1 사이의 확률을 계산</a:t>
            </a:r>
            <a:r>
              <a:rPr lang="ko" sz="1000">
                <a:solidFill>
                  <a:schemeClr val="dk1"/>
                </a:solidFill>
              </a:rPr>
              <a:t>하고 </a:t>
            </a:r>
            <a:r>
              <a:rPr b="1" lang="ko" sz="1000">
                <a:solidFill>
                  <a:schemeClr val="dk1"/>
                </a:solidFill>
              </a:rPr>
              <a:t>임계값 0.5를 기준으로 두 범주로 분류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PyTorch에서 구현했던 유방암 이진분류 모델을 TensorFlow Keras로 재구현하여 두 프레임워크의 모델 구성 및 학습 방식 비교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NEXT...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F1F1F"/>
                </a:solidFill>
                <a:highlight>
                  <a:srgbClr val="FFFFFF"/>
                </a:highlight>
              </a:rPr>
              <a:t>DNN 다중 분류모델 구현해보기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212" name="Google Shape;212;p3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</a:t>
            </a:r>
            <a:r>
              <a:rPr b="1" lang="ko" sz="2000"/>
              <a:t>ensorFlow 05번 실습 DNN Classification 붓꽃(Iris) 품종 다중분류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딥러닝으로 [꽃받침 길이, 꽃받침 너비, 꽃잎 길이, 꽃잎 너비]에 따른 [붓꽃 3종류] 분류 모델 만들기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4개의 feature들을 기반으로 다양한 특징을 추출하고 조합하여 붓꽃의 품종을 구분하는 패턴 학습하기 - DNN 자동 특성 추출 및 다중분류(Multiclass Classification)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[학습 데이터] scikit-learn Iris 데이터셋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load_iris() 데이터셋 사용 - 150개의 붓꽃 샘플과 4개의 입력 특성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sepal length: 꽃받침 길이(cm), sepal width: 꽃받침 너비(cm)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petal length: 꽃잎 길이(cm), petal width: 꽃잎 너비(cm)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정답(y): 0 = setosa, 1 = versicolor, 2 = virginica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[입력층] Input(shape=(4,))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4개의 특성 입력: 꽃받침 길이, 꽃받침 너비, 꽃잎 길이, 꽃잎 너비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#1] 파생 특성 layer (4, 16)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입력 4개를 받아 16개의 조합 특성 만들기: 꽃잎과 꽃받침의 크기 비율, 꽃잎의 길쭉한 정도, 꽃받침의 넓이 특성, 꽃잎과 꽃받침의 크기 차이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[은닉층 #2] 특성조합 layer (16, 8) + ReLU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16개의 특성을 조합하여 8개의 핵심 특성 만들기: 작은 꽃잎과 넓은 꽃받침 패턴, 길고 좁은 꽃잎 패턴, 품종별 꽃잎과 꽃받침의 복합적인 형태 차이 등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[출력층] 다중분류 layer (8, 3) + Softmax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8개의 핵심 특성을 기반으로 붓꽃 3개 품종에 대한 로짓값(Logits)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로짓값에 Softmax 활성화 함수를 적용하여 각 품종에 속할 확률 계산 - 3개 확률값의 합은 1(100%)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출력 0: setosa 확률 ,  출력 1: versicolor 확률 ,  출력 2: virginica 확률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219" name="Google Shape;219;p3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 05번 실습 DNN Classification 붓꽃(Iris) 품종 다중분류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[Softmax] 확률 변환 및 최종 분류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3개 품종의 예측 확률 중 가장 높은 값을 가진 품종으로 최종 분류 - argmax()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예: setosa 0.05 / versicolor 0.85 / virginica 0.10 → versicolor(1) 예측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[모델 구성] TensorFlow Keras Sequential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Input(shape=(4,)) → Dense(16, activation='relu') → Dense(8, activation='relu') → Dense(3, activation='softmax')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2개의 은닉층에서 비선형 특성을 학습하고 출력층의 Softmax 함수로 3개 품종의 분류 확률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[손실함수 및 반복 학습] SparseCategoricalCrossentropy + Optimizer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예측한 3개 품종의 확률과 실제 정답을 비교하여 다중분류 손실 계산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model.compile()로 손실함수와 최적화 알고리즘을 설정하고 model.fit()으로 역전파와 가중치 갱신을 반복하여 분류 성능 개선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이전 DNN 이진분류에서는 Sigmoid 함수로 하나의 확률을 계산하여 0과 1로 분류했다면,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이번 다중분류에서는 Softmax 함수로 3개 클래스의 확률을 계산하고 가장 높은 확률의 클래스로 분류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DNN의 은닉층에서 꽃잎과 꽃받침의 복합적인 특징을 자동으로 학습하고, 출력층의 뉴런 수를 분류할 클래스 수(3개)에 맞춰 확장하여 여러 범주를 분류하는 모델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PyTorch에서 구현했던 붓꽃 다중분류 모델을 TensorFlow Keras로 재구현하여 Softmax 활성화 함수와 다중분류 학습 방식의 차이 이해</a:t>
            </a:r>
            <a:endParaRPr b="1" sz="1000">
              <a:solidFill>
                <a:schemeClr val="dk1"/>
              </a:solidFill>
            </a:endParaRPr>
          </a:p>
        </p:txBody>
      </p:sp>
      <p:cxnSp>
        <p:nvCxnSpPr>
          <p:cNvPr id="226" name="Google Shape;226;p37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 sz="2000"/>
              <a:t>TensorFlow 05번 실습 DNN Classification 붓꽃(Iris) 품종 다중분류</a:t>
            </a:r>
            <a:endParaRPr b="1" sz="2000">
              <a:solidFill>
                <a:schemeClr val="dk2"/>
              </a:solidFill>
            </a:endParaRPr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958307"/>
            <a:ext cx="8520600" cy="4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rgbClr val="1F1F1F"/>
                </a:solidFill>
                <a:highlight>
                  <a:srgbClr val="FFFFFF"/>
                </a:highlight>
              </a:rPr>
              <a:t>수행과제</a:t>
            </a:r>
            <a:endParaRPr b="1" sz="1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marR="6604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교재 : 딥러닝 텐서플로 교과서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1장 ~ 4장 책 읽고 예제  따라하기 (이론적 지식을 학습하는데 도움이 됨)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ko" sz="1200">
                <a:solidFill>
                  <a:srgbClr val="1F1F1F"/>
                </a:solidFill>
                <a:highlight>
                  <a:srgbClr val="FFFFFF"/>
                </a:highlight>
              </a:rPr>
              <a:t>3장은 머신러닝 복습내용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NEXT...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1F1F1F"/>
                </a:solidFill>
                <a:highlight>
                  <a:srgbClr val="FFFFFF"/>
                </a:highlight>
              </a:rPr>
              <a:t>CNN 합성곱 신경망 구현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33" name="Google Shape;233;p38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