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1C3D085-2793-44BA-B3B0-69567A9B50BE}">
  <a:tblStyle styleId="{81C3D085-2793-44BA-B3B0-69567A9B50B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1ac7ae1d4416cdc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h1ac7ae1d4416cdc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1ac7ae1d4416cdc2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h1ac7ae1d4416cdc2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7cea29fcbf6b85e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h7cea29fcbf6b85e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1ac7ae1d4416cdc2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h1ac7ae1d4416cdc2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1ac7ae1d4416cdc2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h1ac7ae1d4416cdc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2000500d91e8593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h2000500d91e8593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2000500d91e8593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h2000500d91e8593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2000500d91e8593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h2000500d91e8593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h2000500d91e8593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h2000500d91e8593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2000500d91e8593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h2000500d91e8593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2000500d91e8593a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h2000500d91e8593a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2000500d91e8593a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h2000500d91e8593a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h2000500d91e8593a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h2000500d91e8593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h2000500d91e8593a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h2000500d91e8593a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2000500d91e8593a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h2000500d91e8593a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h2000500d91e8593a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h2000500d91e8593a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18719" y="380394"/>
            <a:ext cx="8787000" cy="17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ko" sz="15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K-DIGITAL TRAININ</a:t>
            </a:r>
            <a:r>
              <a:rPr b="1" lang="ko" sz="1500" u="sng">
                <a:solidFill>
                  <a:srgbClr val="000000"/>
                </a:solidFill>
              </a:rPr>
              <a:t>G 심화과정</a:t>
            </a:r>
            <a:r>
              <a:rPr b="1" i="0" lang="ko" sz="15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ko" sz="4000">
                <a:solidFill>
                  <a:srgbClr val="000000"/>
                </a:solidFill>
              </a:rPr>
              <a:t>인공지능 YOLO 기반 부트캠프</a:t>
            </a:r>
            <a:endParaRPr b="1" i="0" sz="4000" u="none" cap="none" strike="noStrike">
              <a:solidFill>
                <a:srgbClr val="000000"/>
              </a:solidFill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k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 </a:t>
            </a:r>
            <a:r>
              <a:rPr lang="ko" sz="1800">
                <a:solidFill>
                  <a:srgbClr val="000000"/>
                </a:solidFill>
              </a:rPr>
              <a:t>딥러닝, 컴퓨터비전, 자연어처리, </a:t>
            </a:r>
            <a:r>
              <a:rPr lang="ko" sz="1800"/>
              <a:t>LLM 파인튜닝</a:t>
            </a:r>
            <a:r>
              <a:rPr lang="ko" sz="1800">
                <a:solidFill>
                  <a:srgbClr val="000000"/>
                </a:solidFill>
              </a:rPr>
              <a:t>, AI Agent</a:t>
            </a:r>
            <a:r>
              <a:rPr b="0" i="0" lang="k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119115" y="4309484"/>
            <a:ext cx="300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2026.</a:t>
            </a:r>
            <a:r>
              <a:rPr lang="ko" sz="1800">
                <a:solidFill>
                  <a:srgbClr val="000000"/>
                </a:solidFill>
              </a:rPr>
              <a:t>10</a:t>
            </a:r>
            <a:r>
              <a:rPr b="0" i="0" lang="k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.2</a:t>
            </a:r>
            <a:r>
              <a:rPr lang="ko" sz="1800">
                <a:solidFill>
                  <a:srgbClr val="000000"/>
                </a:solidFill>
              </a:rPr>
              <a:t>2</a:t>
            </a:r>
            <a:r>
              <a:rPr b="0" i="0" lang="k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~2026.</a:t>
            </a:r>
            <a:r>
              <a:rPr lang="ko" sz="1800">
                <a:solidFill>
                  <a:srgbClr val="000000"/>
                </a:solidFill>
              </a:rPr>
              <a:t>12</a:t>
            </a:r>
            <a:r>
              <a:rPr b="0" i="0" lang="k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ko" sz="1800"/>
              <a:t>22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893964" y="2410998"/>
            <a:ext cx="54507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6C6C6C"/>
                </a:solidFill>
                <a:highlight>
                  <a:srgbClr val="FFFFFF"/>
                </a:highlight>
              </a:rPr>
              <a:t>YOLO(You Only Look Once) : </a:t>
            </a:r>
            <a:r>
              <a:rPr b="1" lang="ko" sz="1000">
                <a:solidFill>
                  <a:srgbClr val="767676"/>
                </a:solidFill>
                <a:highlight>
                  <a:srgbClr val="FFFFFF"/>
                </a:highlight>
              </a:rPr>
              <a:t>실시간 객체 인식을 위한 컴퓨터비전 딥러닝 모델</a:t>
            </a:r>
            <a:r>
              <a:rPr lang="ko" sz="1000">
                <a:solidFill>
                  <a:srgbClr val="000000"/>
                </a:solidFill>
              </a:rPr>
              <a:t> </a:t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딥러닝 및 컴퓨터 비전과 AI 엔지니어 역량 강화 부트캠프</a:t>
            </a:r>
            <a:endParaRPr b="1" sz="355">
              <a:solidFill>
                <a:schemeClr val="dk2"/>
              </a:solidFill>
            </a:endParaRPr>
          </a:p>
        </p:txBody>
      </p:sp>
      <p:cxnSp>
        <p:nvCxnSpPr>
          <p:cNvPr id="62" name="Google Shape;62;p14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4"/>
          <p:cNvSpPr txBox="1"/>
          <p:nvPr/>
        </p:nvSpPr>
        <p:spPr>
          <a:xfrm>
            <a:off x="358850" y="1016750"/>
            <a:ext cx="8471700" cy="38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>
                <a:solidFill>
                  <a:schemeClr val="dk1"/>
                </a:solidFill>
              </a:rPr>
              <a:t>수강 대상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Python 기반 데이터 분석과 머신러닝 기초를 학습하고, 생성형 AI API를 활용한 서비스 개발 경험이 있는 사람으로,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딥러닝 모델 구현부터 컴퓨터 비전, 자연어처리, LLM Fine-tuning 및 AI Agent 개발까지 실무 역량을 확장하고자 하는 취업 및 창업 준비생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>
                <a:solidFill>
                  <a:schemeClr val="dk1"/>
                </a:solidFill>
              </a:rPr>
              <a:t>선수학습 내용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Python 프로그래밍 및 객체지향 프로그래밍 기초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NumPy, Pandas를 활용한 데이터 분석 및 전처리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Scikit-learn 기반 머신러닝 회귀·분류 모델 학습과 성능평가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OpenAI API 등 LLM API 활용 및 프롬프트 엔지니어링 기초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RAG 를 이용한 문서기반 기업 맞춤 서비스 (청크, 임베딩, 벡터DB, 유사도)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LLM API와 LangChain을 활용한 챗봇 또는 React 기반 AI 웹앱 개발 경험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Fast API, REST API, JSON 등 AI 서비스 연동에 필요한 기초 개념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이 과정에서 새롭게 학습할 내용</a:t>
            </a:r>
            <a:endParaRPr b="1" sz="355">
              <a:solidFill>
                <a:schemeClr val="dk2"/>
              </a:solidFill>
            </a:endParaRPr>
          </a:p>
        </p:txBody>
      </p:sp>
      <p:cxnSp>
        <p:nvCxnSpPr>
          <p:cNvPr id="69" name="Google Shape;69;p15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" name="Google Shape;70;p15"/>
          <p:cNvSpPr txBox="1"/>
          <p:nvPr/>
        </p:nvSpPr>
        <p:spPr>
          <a:xfrm>
            <a:off x="358850" y="1016750"/>
            <a:ext cx="8471700" cy="38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1. </a:t>
            </a:r>
            <a:r>
              <a:rPr lang="ko" sz="1100">
                <a:solidFill>
                  <a:schemeClr val="dk1"/>
                </a:solidFill>
              </a:rPr>
              <a:t>PyTorch / TensorFlow 인공신경망과 딥러닝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2. CNN 및 OpenCV, YOLO 컴퓨터 비전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3. 시계열 분석 (RNN, LSTM, GRU)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4. 자연어 처리NLP·Transformer·BERT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5. Hugging Face 기반 LLM 활용 및 파인튜닝 (SFT 및 LoRA/QLoRA Fine-tuning), LLM Serving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6. LangGraph·MCP 기반 AI Agent 개발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선수과정</a:t>
            </a:r>
            <a:r>
              <a:rPr lang="ko" sz="1100">
                <a:solidFill>
                  <a:schemeClr val="dk1"/>
                </a:solidFill>
              </a:rPr>
              <a:t>: 머신러닝 기초 + LLM API / LangChain / RAG 를 활용한 AI 서비스 구현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심화과정</a:t>
            </a:r>
            <a:r>
              <a:rPr lang="ko" sz="1100">
                <a:solidFill>
                  <a:schemeClr val="dk1"/>
                </a:solidFill>
              </a:rPr>
              <a:t>: 딥러닝 모델의 원리와 학습 → Computer Vision → NLP → 오픈 LLM Fine-tuning → LLM Serving → AI Agent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학습 형태</a:t>
            </a:r>
            <a:endParaRPr b="1" sz="355">
              <a:solidFill>
                <a:schemeClr val="dk2"/>
              </a:solidFill>
            </a:endParaRPr>
          </a:p>
        </p:txBody>
      </p:sp>
      <p:cxnSp>
        <p:nvCxnSpPr>
          <p:cNvPr id="76" name="Google Shape;76;p16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16"/>
          <p:cNvSpPr txBox="1"/>
          <p:nvPr/>
        </p:nvSpPr>
        <p:spPr>
          <a:xfrm>
            <a:off x="358850" y="1016750"/>
            <a:ext cx="8471700" cy="38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300">
                <a:solidFill>
                  <a:schemeClr val="dk1"/>
                </a:solidFill>
              </a:rPr>
              <a:t>선수</a:t>
            </a:r>
            <a:r>
              <a:rPr b="1" lang="ko" sz="1300">
                <a:solidFill>
                  <a:schemeClr val="dk1"/>
                </a:solidFill>
              </a:rPr>
              <a:t>과정</a:t>
            </a:r>
            <a:r>
              <a:rPr b="1" lang="ko" sz="1300">
                <a:solidFill>
                  <a:schemeClr val="dk1"/>
                </a:solidFill>
              </a:rPr>
              <a:t> (KDT)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기술교육 : 70%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프로젝트 : 30%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학습형태 : 수동적 학습 , 실습, 팀 프로젝트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심화과정 (</a:t>
            </a:r>
            <a:r>
              <a:rPr b="1" lang="ko" sz="1100">
                <a:solidFill>
                  <a:schemeClr val="dk1"/>
                </a:solidFill>
              </a:rPr>
              <a:t>부트캠프)</a:t>
            </a:r>
            <a:r>
              <a:rPr lang="ko" sz="1100">
                <a:solidFill>
                  <a:schemeClr val="dk1"/>
                </a:solidFill>
              </a:rPr>
              <a:t>  : </a:t>
            </a:r>
            <a:r>
              <a:rPr lang="ko" sz="1100">
                <a:solidFill>
                  <a:schemeClr val="dk1"/>
                </a:solidFill>
              </a:rPr>
              <a:t>총 44일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기술교육 : 30%        - 13일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프로젝트 : 70%        - 31일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학습형태 : 자기 주도 학습, 개인 또는 팀 프로젝트 심화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구직 활동 및 공모전 활동을 병행하는 취업 인큐베이터 역할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/>
        </p:nvSpPr>
        <p:spPr>
          <a:xfrm>
            <a:off x="457200" y="274646"/>
            <a:ext cx="8229600" cy="7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800">
                <a:latin typeface="Malgun Gothic"/>
                <a:ea typeface="Malgun Gothic"/>
                <a:cs typeface="Malgun Gothic"/>
                <a:sym typeface="Malgun Gothic"/>
              </a:rPr>
              <a:t>DL &amp; Computer Vision</a:t>
            </a:r>
            <a:r>
              <a:rPr b="1" lang="ko" sz="2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+  </a:t>
            </a:r>
            <a:r>
              <a:rPr b="1" lang="ko" sz="2800">
                <a:latin typeface="Malgun Gothic"/>
                <a:ea typeface="Malgun Gothic"/>
                <a:cs typeface="Malgun Gothic"/>
                <a:sym typeface="Malgun Gothic"/>
              </a:rPr>
              <a:t>AI Engineering</a:t>
            </a:r>
            <a:endParaRPr sz="28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428600" y="1232914"/>
            <a:ext cx="80724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ko" sz="1300">
                <a:solidFill>
                  <a:schemeClr val="dk1"/>
                </a:solidFill>
              </a:rPr>
              <a:t>딥러닝 및 인공지능 모델 학습을 통해 컴퓨터비전, 시계열 분석, 자연어처리 기술을 구현할 수 있고,</a:t>
            </a:r>
            <a:br>
              <a:rPr lang="ko" sz="1300">
                <a:solidFill>
                  <a:schemeClr val="dk1"/>
                </a:solidFill>
              </a:rPr>
            </a:br>
            <a:r>
              <a:rPr lang="ko" sz="1300">
                <a:solidFill>
                  <a:schemeClr val="dk1"/>
                </a:solidFill>
              </a:rPr>
              <a:t>LLM 파인튜닝과 AI Agent 기술을 활용하여 지능형 웹 서비스 및 AI 애플리케이션을 설계·개발·배포할 수 있는</a:t>
            </a:r>
            <a:br>
              <a:rPr lang="ko" sz="1300">
                <a:solidFill>
                  <a:schemeClr val="dk1"/>
                </a:solidFill>
              </a:rPr>
            </a:br>
            <a:r>
              <a:rPr b="1" lang="ko" sz="1300">
                <a:solidFill>
                  <a:schemeClr val="dk1"/>
                </a:solidFill>
              </a:rPr>
              <a:t>실무형 AI 엔지니어</a:t>
            </a:r>
            <a:r>
              <a:rPr lang="ko" sz="1300">
                <a:solidFill>
                  <a:schemeClr val="dk1"/>
                </a:solidFill>
              </a:rPr>
              <a:t> 역량 심화 과정</a:t>
            </a:r>
            <a:endParaRPr sz="18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84" name="Google Shape;84;p17"/>
          <p:cNvGraphicFramePr/>
          <p:nvPr/>
        </p:nvGraphicFramePr>
        <p:xfrm>
          <a:off x="428596" y="22574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{81C3D085-2793-44BA-B3B0-69567A9B50BE}</a:tableStyleId>
              </a:tblPr>
              <a:tblGrid>
                <a:gridCol w="2000275"/>
                <a:gridCol w="3099525"/>
                <a:gridCol w="3187025"/>
              </a:tblGrid>
              <a:tr h="71145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6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Deep</a:t>
                      </a:r>
                      <a:r>
                        <a:rPr b="1" lang="ko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Learning</a:t>
                      </a:r>
                      <a:endParaRPr sz="16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6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Computer Vision</a:t>
                      </a:r>
                      <a:endParaRPr sz="16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6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NLP, Fine Tuning</a:t>
                      </a:r>
                      <a:endParaRPr b="1" sz="16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6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AI Engineering</a:t>
                      </a:r>
                      <a:endParaRPr b="1" sz="16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6350" marB="16350" marR="59150" marL="59150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Part1. </a:t>
                      </a:r>
                      <a:r>
                        <a:rPr b="1" lang="ko" sz="16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딥러닝과 컴퓨터비전</a:t>
                      </a:r>
                      <a:endParaRPr sz="16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16350" marB="16350" marR="59150" marL="59150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Part2. </a:t>
                      </a:r>
                      <a:r>
                        <a:rPr b="1" lang="ko" sz="16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AI 엔지니어링</a:t>
                      </a:r>
                      <a:endParaRPr sz="16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16350" marB="16350" marR="59150" marL="59150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31775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u="none" cap="none" strike="noStrike">
                          <a:solidFill>
                            <a:srgbClr val="000000"/>
                          </a:solidFill>
                        </a:rPr>
                        <a:t>∘ </a:t>
                      </a:r>
                      <a:r>
                        <a:rPr lang="ko" sz="1200"/>
                        <a:t>인공신경망과 딥러닝</a:t>
                      </a:r>
                      <a:endParaRPr sz="16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u="none" cap="none" strike="noStrike">
                          <a:solidFill>
                            <a:srgbClr val="000000"/>
                          </a:solidFill>
                        </a:rPr>
                        <a:t>∘ </a:t>
                      </a:r>
                      <a:r>
                        <a:rPr lang="ko" sz="12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CNN 이미지 분류, 전이학습</a:t>
                      </a:r>
                      <a:endParaRPr sz="16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u="none" cap="none" strike="noStrike">
                          <a:solidFill>
                            <a:srgbClr val="000000"/>
                          </a:solidFill>
                        </a:rPr>
                        <a:t>∘ </a:t>
                      </a:r>
                      <a:r>
                        <a:rPr lang="ko" sz="12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OpenCV, 얼굴인식, OCR</a:t>
                      </a:r>
                      <a:endParaRPr sz="16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u="none" cap="none" strike="noStrike">
                          <a:solidFill>
                            <a:srgbClr val="000000"/>
                          </a:solidFill>
                        </a:rPr>
                        <a:t>∘ </a:t>
                      </a:r>
                      <a:r>
                        <a:rPr lang="ko" sz="1200"/>
                        <a:t>YOLO 객체인식, 객체분할, 자세추정</a:t>
                      </a:r>
                      <a:endParaRPr sz="16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u="none" cap="none" strike="noStrike">
                          <a:solidFill>
                            <a:srgbClr val="000000"/>
                          </a:solidFill>
                        </a:rPr>
                        <a:t>∘</a:t>
                      </a:r>
                      <a:r>
                        <a:rPr lang="ko" sz="12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컴퓨터비전을 이용한 비전검사 프로젝트</a:t>
                      </a:r>
                      <a:endParaRPr sz="16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16350" marB="16350" marR="59150" marL="59150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u="none" cap="none" strike="noStrike">
                          <a:solidFill>
                            <a:srgbClr val="000000"/>
                          </a:solidFill>
                        </a:rPr>
                        <a:t>∘ </a:t>
                      </a:r>
                      <a:r>
                        <a:rPr lang="ko" sz="1200"/>
                        <a:t>시계열데이터, </a:t>
                      </a:r>
                      <a:r>
                        <a:rPr lang="ko" sz="12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자연어처리</a:t>
                      </a:r>
                      <a:endParaRPr sz="16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u="none" cap="none" strike="noStrike">
                          <a:solidFill>
                            <a:srgbClr val="000000"/>
                          </a:solidFill>
                        </a:rPr>
                        <a:t>∘ Open LLM</a:t>
                      </a:r>
                      <a:r>
                        <a:rPr lang="ko" sz="1200"/>
                        <a:t> 활용, Fine Tuning</a:t>
                      </a:r>
                      <a:r>
                        <a:rPr lang="ko" sz="12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endParaRPr sz="16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u="none" cap="none" strike="noStrike">
                          <a:solidFill>
                            <a:srgbClr val="000000"/>
                          </a:solidFill>
                        </a:rPr>
                        <a:t>∘ </a:t>
                      </a:r>
                      <a:r>
                        <a:rPr lang="ko" sz="1200"/>
                        <a:t>LLM </a:t>
                      </a:r>
                      <a:r>
                        <a:rPr lang="ko" sz="1200"/>
                        <a:t>Serving, Docker, GPU 선택 및 운용</a:t>
                      </a:r>
                      <a:endParaRPr sz="16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u="none" cap="none" strike="noStrike">
                          <a:solidFill>
                            <a:srgbClr val="000000"/>
                          </a:solidFill>
                        </a:rPr>
                        <a:t>∘ </a:t>
                      </a:r>
                      <a:r>
                        <a:rPr lang="ko" sz="1200">
                          <a:solidFill>
                            <a:schemeClr val="dk1"/>
                          </a:solidFill>
                        </a:rPr>
                        <a:t>AI Agent, LangGraph , MCP</a:t>
                      </a:r>
                      <a:endParaRPr sz="16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u="none" cap="none" strike="noStrike">
                          <a:solidFill>
                            <a:srgbClr val="000000"/>
                          </a:solidFill>
                        </a:rPr>
                        <a:t>∘ </a:t>
                      </a:r>
                      <a:r>
                        <a:rPr lang="ko" sz="12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AI 애플리케이션 제작</a:t>
                      </a:r>
                      <a:r>
                        <a:rPr lang="ko" sz="1200" u="none" cap="none" strike="noStrike">
                          <a:solidFill>
                            <a:srgbClr val="000000"/>
                          </a:solidFill>
                        </a:rPr>
                        <a:t> 프로젝트</a:t>
                      </a:r>
                      <a:endParaRPr sz="16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16350" marB="16350" marR="59150" marL="59150" anchor="ctr">
                    <a:lnL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학습 순서</a:t>
            </a:r>
            <a:endParaRPr b="1" sz="355">
              <a:solidFill>
                <a:schemeClr val="dk2"/>
              </a:solidFill>
            </a:endParaRPr>
          </a:p>
        </p:txBody>
      </p:sp>
      <p:cxnSp>
        <p:nvCxnSpPr>
          <p:cNvPr id="90" name="Google Shape;90;p18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p18"/>
          <p:cNvSpPr txBox="1"/>
          <p:nvPr/>
        </p:nvSpPr>
        <p:spPr>
          <a:xfrm>
            <a:off x="343450" y="980375"/>
            <a:ext cx="8471700" cy="3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25" lIns="65450" spcFirstLastPara="1" rIns="65450" wrap="square" tIns="327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PART #1.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1. 인공신경망 ANN </a:t>
            </a:r>
            <a:r>
              <a:rPr lang="ko" sz="800">
                <a:solidFill>
                  <a:srgbClr val="666666"/>
                </a:solidFill>
              </a:rPr>
              <a:t>(pytorch), </a:t>
            </a:r>
            <a:r>
              <a:rPr lang="ko" sz="1000">
                <a:solidFill>
                  <a:schemeClr val="dk1"/>
                </a:solidFill>
              </a:rPr>
              <a:t>ANN Regression(</a:t>
            </a:r>
            <a:r>
              <a:rPr lang="ko" sz="800">
                <a:solidFill>
                  <a:srgbClr val="666666"/>
                </a:solidFill>
              </a:rPr>
              <a:t>(pytorch 단층퍼셉트론), </a:t>
            </a:r>
            <a:r>
              <a:rPr lang="ko" sz="1000">
                <a:solidFill>
                  <a:schemeClr val="dk1"/>
                </a:solidFill>
              </a:rPr>
              <a:t>심층 신경망 DNN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2. DNN Regression </a:t>
            </a:r>
            <a:r>
              <a:rPr lang="ko" sz="800">
                <a:solidFill>
                  <a:srgbClr val="666666"/>
                </a:solidFill>
              </a:rPr>
              <a:t>(pytorch vs tensorflow) </a:t>
            </a:r>
            <a:endParaRPr sz="8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3. DNN Classification </a:t>
            </a:r>
            <a:r>
              <a:rPr lang="ko" sz="800">
                <a:solidFill>
                  <a:srgbClr val="666666"/>
                </a:solidFill>
              </a:rPr>
              <a:t>(pytorch vs tensorflow) </a:t>
            </a:r>
            <a:endParaRPr sz="8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4. CNN Image Classification </a:t>
            </a:r>
            <a:r>
              <a:rPr lang="ko" sz="800">
                <a:solidFill>
                  <a:srgbClr val="666666"/>
                </a:solidFill>
              </a:rPr>
              <a:t>(pytorch vs tensorflow) </a:t>
            </a:r>
            <a:endParaRPr sz="8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5. openCV 이미지 처리. 얼굴인식. OCR, 객체인식 등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6. Yolo 이미지 인식 및 분류. </a:t>
            </a:r>
            <a:r>
              <a:rPr lang="ko" sz="1000">
                <a:solidFill>
                  <a:schemeClr val="dk1"/>
                </a:solidFill>
              </a:rPr>
              <a:t>자세추정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프로젝트 1 : 컴퓨터 비전 팀 or 개인 프로젝트 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PART #2.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7. RNN, LSTM, GRU (순환신경망 모델들 - 시계열 데이터)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8. 자연어처리(벡터화, 형태소분석, 임베딩 word2vec, BERT, SBERT, Transformer)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9. 파운데이션모델 파인튜닝 : Hugging face + EXAONE or Llamma or Gemma or Qwen </a:t>
            </a:r>
            <a:r>
              <a:rPr lang="ko" sz="800">
                <a:solidFill>
                  <a:srgbClr val="666666"/>
                </a:solidFill>
              </a:rPr>
              <a:t>SFT, LoRA, QLoRA, vLLM</a:t>
            </a:r>
            <a:endParaRPr sz="8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10. AI Agent / LangGraph / MCP  </a:t>
            </a:r>
            <a:r>
              <a:rPr b="1" lang="ko" sz="800">
                <a:solidFill>
                  <a:srgbClr val="666666"/>
                </a:solidFill>
              </a:rPr>
              <a:t>바이브코딩 , 에이전틱 AI</a:t>
            </a:r>
            <a:endParaRPr b="1" sz="8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11.LLM Serving 인프라 : </a:t>
            </a:r>
            <a:r>
              <a:rPr lang="ko" sz="1000">
                <a:solidFill>
                  <a:schemeClr val="dk1"/>
                </a:solidFill>
              </a:rPr>
              <a:t> Docker, AWS GPU 운용(상시, 일정시간, serverless gpu - 사용할때만 비용지불),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>
                <a:solidFill>
                  <a:schemeClr val="dk1"/>
                </a:solidFill>
              </a:rPr>
              <a:t>     </a:t>
            </a:r>
            <a:r>
              <a:rPr lang="ko" sz="800">
                <a:solidFill>
                  <a:schemeClr val="dk1"/>
                </a:solidFill>
              </a:rPr>
              <a:t>  LLM 파라미터개수(7B</a:t>
            </a:r>
            <a:r>
              <a:rPr lang="ko" sz="500">
                <a:solidFill>
                  <a:srgbClr val="666666"/>
                </a:solidFill>
              </a:rPr>
              <a:t>billion </a:t>
            </a:r>
            <a:r>
              <a:rPr lang="ko" sz="800">
                <a:solidFill>
                  <a:schemeClr val="dk1"/>
                </a:solidFill>
              </a:rPr>
              <a:t>, 14B, 32B, 70B)에 따른 GPU 선택(L4, A10k, A100, H100 ~ 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프로젝트 2 : 공모전 or 취업 포트폴리오에 따라 프로젝트 주제 선정 </a:t>
            </a:r>
            <a:r>
              <a:rPr lang="ko" sz="800">
                <a:solidFill>
                  <a:schemeClr val="dk2"/>
                </a:solidFill>
              </a:rPr>
              <a:t>(AI Engineer </a:t>
            </a:r>
            <a:r>
              <a:rPr lang="ko" sz="800">
                <a:solidFill>
                  <a:schemeClr val="dk2"/>
                </a:solidFill>
              </a:rPr>
              <a:t>또는</a:t>
            </a:r>
            <a:r>
              <a:rPr lang="ko" sz="800">
                <a:solidFill>
                  <a:schemeClr val="dk2"/>
                </a:solidFill>
              </a:rPr>
              <a:t> AI </a:t>
            </a:r>
            <a:r>
              <a:rPr lang="ko" sz="800">
                <a:solidFill>
                  <a:schemeClr val="dk2"/>
                </a:solidFill>
              </a:rPr>
              <a:t>관련 직무의 </a:t>
            </a:r>
            <a:r>
              <a:rPr lang="ko" sz="800">
                <a:solidFill>
                  <a:schemeClr val="dk2"/>
                </a:solidFill>
              </a:rPr>
              <a:t>구인 구직 공고문 - 담당업무가 수행프로젝내역에 표시되도록)</a:t>
            </a:r>
            <a:endParaRPr sz="805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현재 AI 분야의 주요 취업 직무와 직종</a:t>
            </a:r>
            <a:endParaRPr b="1" sz="355">
              <a:solidFill>
                <a:schemeClr val="dk2"/>
              </a:solidFill>
            </a:endParaRPr>
          </a:p>
        </p:txBody>
      </p:sp>
      <p:cxnSp>
        <p:nvCxnSpPr>
          <p:cNvPr id="97" name="Google Shape;97;p19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19"/>
          <p:cNvSpPr txBox="1"/>
          <p:nvPr/>
        </p:nvSpPr>
        <p:spPr>
          <a:xfrm>
            <a:off x="343450" y="980375"/>
            <a:ext cx="8471700" cy="40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25" lIns="65450" spcFirstLastPara="1" rIns="65450" wrap="square" tIns="327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AI 시장의 폭발적인 성장과 함께 관련 직무가 개발자를 넘어 기획, 인프라, 보안, 서비스 운영, AI 융합사무 등 전 영역으로 빠르게 전문화·세분화되고 있음.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300">
                <a:solidFill>
                  <a:schemeClr val="dk1"/>
                </a:solidFill>
              </a:rPr>
              <a:t>1. 기술 개발 및 연구 </a:t>
            </a:r>
            <a:r>
              <a:rPr lang="ko" sz="1000">
                <a:solidFill>
                  <a:srgbClr val="666666"/>
                </a:solidFill>
              </a:rPr>
              <a:t>(핵심 엔지니어링)</a:t>
            </a:r>
            <a:endParaRPr sz="10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300">
                <a:solidFill>
                  <a:schemeClr val="dk1"/>
                </a:solidFill>
              </a:rPr>
              <a:t>2. 데이터 관리 및 분석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300">
                <a:solidFill>
                  <a:schemeClr val="dk1"/>
                </a:solidFill>
              </a:rPr>
              <a:t>3. 인프라 및 운영 체계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300">
                <a:solidFill>
                  <a:schemeClr val="dk1"/>
                </a:solidFill>
              </a:rPr>
              <a:t>4. 비즈니스 및 UX / 기획 </a:t>
            </a:r>
            <a:r>
              <a:rPr lang="ko" sz="1000">
                <a:solidFill>
                  <a:srgbClr val="666666"/>
                </a:solidFill>
              </a:rPr>
              <a:t>(비전공자 진출 활발)</a:t>
            </a:r>
            <a:endParaRPr sz="10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300">
                <a:solidFill>
                  <a:schemeClr val="dk1"/>
                </a:solidFill>
              </a:rPr>
              <a:t>5. AI 융합 사무 직무 </a:t>
            </a:r>
            <a:r>
              <a:rPr lang="ko" sz="1000">
                <a:solidFill>
                  <a:srgbClr val="666666"/>
                </a:solidFill>
              </a:rPr>
              <a:t>(비전공자 진출 활발)</a:t>
            </a:r>
            <a:r>
              <a:rPr b="1" lang="ko" sz="1300">
                <a:solidFill>
                  <a:schemeClr val="dk1"/>
                </a:solidFill>
              </a:rPr>
              <a:t> 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현재 AI 분야의 주요 취업 직무와 직종 1</a:t>
            </a:r>
            <a:endParaRPr b="1" sz="355">
              <a:solidFill>
                <a:schemeClr val="dk2"/>
              </a:solidFill>
            </a:endParaRPr>
          </a:p>
        </p:txBody>
      </p:sp>
      <p:cxnSp>
        <p:nvCxnSpPr>
          <p:cNvPr id="104" name="Google Shape;104;p20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20"/>
          <p:cNvSpPr txBox="1"/>
          <p:nvPr/>
        </p:nvSpPr>
        <p:spPr>
          <a:xfrm>
            <a:off x="343450" y="980375"/>
            <a:ext cx="8471700" cy="40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25" lIns="65450" spcFirstLastPara="1" rIns="65450" wrap="square" tIns="327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300">
                <a:solidFill>
                  <a:schemeClr val="dk1"/>
                </a:solidFill>
              </a:rPr>
              <a:t>1. 기술 개발 및 연구 (핵심 엔지니어링)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AI 모델을 직접 설계하고 컴퓨터가 학습할 수 있도록 구현하는 핵심 개발 직무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 </a:t>
            </a:r>
            <a:r>
              <a:rPr b="1" lang="ko" sz="1100">
                <a:solidFill>
                  <a:schemeClr val="dk1"/>
                </a:solidFill>
              </a:rPr>
              <a:t>- 머신러닝 / 딥러닝 엔지니어 (ML/DL Engineer)</a:t>
            </a:r>
            <a:r>
              <a:rPr lang="ko" sz="1100">
                <a:solidFill>
                  <a:schemeClr val="dk1"/>
                </a:solidFill>
              </a:rPr>
              <a:t>: AI 모델을 개발하고 서비스에 적용하는 직무.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   알고리즘 최적화와 서비스 상용화를 담당하며 구현 역량(Python, TensorFlow, PyTorch 등)이 매우 중요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 </a:t>
            </a:r>
            <a:r>
              <a:rPr b="1" lang="ko" sz="1100">
                <a:solidFill>
                  <a:schemeClr val="dk1"/>
                </a:solidFill>
              </a:rPr>
              <a:t>- AI 연구원 (Research Scientist)</a:t>
            </a:r>
            <a:r>
              <a:rPr lang="ko" sz="1100">
                <a:solidFill>
                  <a:schemeClr val="dk1"/>
                </a:solidFill>
              </a:rPr>
              <a:t>: 최신 AI 알고리즘과 원천 기술을 연구.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   주로 석·박사 학위 소지자가 진출하며, 논문을 작성하거나 완전히 새로운 형태의 AI 아키텍처를 실험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 </a:t>
            </a:r>
            <a:r>
              <a:rPr b="1" lang="ko" sz="1100">
                <a:solidFill>
                  <a:schemeClr val="dk1"/>
                </a:solidFill>
              </a:rPr>
              <a:t>- LLM / 생성형 AI 전문가</a:t>
            </a:r>
            <a:r>
              <a:rPr lang="ko" sz="1100">
                <a:solidFill>
                  <a:schemeClr val="dk1"/>
                </a:solidFill>
              </a:rPr>
              <a:t>: </a:t>
            </a:r>
            <a:r>
              <a:rPr lang="ko" sz="1000"/>
              <a:t>기업 맞춤형 AI 개발 (또는 맞춤형 생성형 AI 구축). 사내 데이터 연동 AI 개발.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   대규모 언어 모델(LLM)을 미세조정(Fine-Tuning)하거나, 기업 내부 데이터와 연동하는 RAG(검색 증강 생성) 시스템 등을 전문적으로 개발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-</a:t>
            </a:r>
            <a:r>
              <a:rPr b="1" lang="ko" sz="1100">
                <a:solidFill>
                  <a:schemeClr val="dk1"/>
                </a:solidFill>
              </a:rPr>
              <a:t> 로봇 및 물리 AI 엔지니어 (Physical AI Engineer)</a:t>
            </a:r>
            <a:r>
              <a:rPr lang="ko" sz="1100">
                <a:solidFill>
                  <a:schemeClr val="dk1"/>
                </a:solidFill>
              </a:rPr>
              <a:t>: </a:t>
            </a:r>
            <a:r>
              <a:rPr lang="ko" sz="1100"/>
              <a:t>AI 기반 로봇 제어 시스템 개발. 자율주행 및 로보틱스 AI 엔지니어링을 하는 직무.</a:t>
            </a:r>
            <a:endParaRPr sz="1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  AI를 자율주행차, 산업용 로봇, 휴머노이드 등 하드웨어에 접목하여 ROS 제어 시스템과 내비게이션 알고리즘을 설계 및 구현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현재 AI 분야의 주요 취업 직무와 직종 2</a:t>
            </a:r>
            <a:endParaRPr b="1" sz="355">
              <a:solidFill>
                <a:schemeClr val="dk2"/>
              </a:solidFill>
            </a:endParaRPr>
          </a:p>
        </p:txBody>
      </p:sp>
      <p:cxnSp>
        <p:nvCxnSpPr>
          <p:cNvPr id="111" name="Google Shape;111;p21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21"/>
          <p:cNvSpPr txBox="1"/>
          <p:nvPr/>
        </p:nvSpPr>
        <p:spPr>
          <a:xfrm>
            <a:off x="343450" y="980375"/>
            <a:ext cx="8471700" cy="40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25" lIns="65450" spcFirstLastPara="1" rIns="65450" wrap="square" tIns="327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300">
                <a:solidFill>
                  <a:schemeClr val="dk1"/>
                </a:solidFill>
              </a:rPr>
              <a:t>2. 데이터 관리 및 분석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AI 모델의 성능은 데이터의 질에 좌우되므로, 데이터를 수집하고 다듬는 전문가들의 수요가 매우 높음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 </a:t>
            </a:r>
            <a:r>
              <a:rPr b="1" lang="ko" sz="1100">
                <a:solidFill>
                  <a:schemeClr val="dk1"/>
                </a:solidFill>
              </a:rPr>
              <a:t>- </a:t>
            </a:r>
            <a:r>
              <a:rPr b="1" lang="ko" sz="1100">
                <a:solidFill>
                  <a:schemeClr val="dk1"/>
                </a:solidFill>
              </a:rPr>
              <a:t>데이터 사이언티스트 (Data Scientist)</a:t>
            </a:r>
            <a:r>
              <a:rPr lang="ko" sz="1100">
                <a:solidFill>
                  <a:schemeClr val="dk1"/>
                </a:solidFill>
              </a:rPr>
              <a:t>: 방대한 데이터 속에서 비즈니스 인사이트를 도출하고 통계적 모델을 구축.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   수학·통계학적 지식과 분석 도구 활용 능력이 요구됨. 데이터로 해결해야 할 핵심 과제를 발굴하고 지표(KPI)를 설정. 머신러닝·딥러닝 알고리즘 이론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 </a:t>
            </a:r>
            <a:r>
              <a:rPr b="1" lang="ko" sz="1100">
                <a:solidFill>
                  <a:schemeClr val="dk1"/>
                </a:solidFill>
              </a:rPr>
              <a:t>- 데이터 엔지니어 (Data Engineer)</a:t>
            </a:r>
            <a:r>
              <a:rPr lang="ko" sz="1100">
                <a:solidFill>
                  <a:schemeClr val="dk1"/>
                </a:solidFill>
              </a:rPr>
              <a:t>: AI 학습 데이터 수집 파이프라인 구축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   기업 내 다양한 소스로부터 대량의 데이터를 수집·정제·저장하고, 분석가나 AI가 쉽게 활용할 수 있도록 데이터 파이프라인(ETL)을 설계하고 구축·운영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 </a:t>
            </a:r>
            <a:r>
              <a:rPr b="1" lang="ko" sz="1100">
                <a:solidFill>
                  <a:schemeClr val="dk1"/>
                </a:solidFill>
              </a:rPr>
              <a:t>- AI 트레이너(평가) / 데이터 어노테이터(라벨러)</a:t>
            </a:r>
            <a:r>
              <a:rPr lang="ko" sz="1100">
                <a:solidFill>
                  <a:schemeClr val="dk1"/>
                </a:solidFill>
              </a:rPr>
              <a:t>: 인공지능이 더 정확한 답변을 내놓도록 데이터를 분류하고, 생성된 결과물을 평가·개선하는 핵심 인력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   AI가 올바르게 학습할 수 있도록 가이드라인에 맞춰 텍스트, 이미지, 음성 데이터에 라벨을 붙이고 품질을 검수하는 역할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현재 AI 분야의 주요 취업 직무와 직종 3</a:t>
            </a:r>
            <a:endParaRPr b="1" sz="355">
              <a:solidFill>
                <a:schemeClr val="dk2"/>
              </a:solidFill>
            </a:endParaRPr>
          </a:p>
        </p:txBody>
      </p:sp>
      <p:cxnSp>
        <p:nvCxnSpPr>
          <p:cNvPr id="118" name="Google Shape;118;p22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22"/>
          <p:cNvSpPr txBox="1"/>
          <p:nvPr/>
        </p:nvSpPr>
        <p:spPr>
          <a:xfrm>
            <a:off x="343450" y="980375"/>
            <a:ext cx="8471700" cy="40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25" lIns="65450" spcFirstLastPara="1" rIns="65450" wrap="square" tIns="327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300">
                <a:solidFill>
                  <a:schemeClr val="dk1"/>
                </a:solidFill>
              </a:rPr>
              <a:t>3. 인프라 및 운영 체계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AI 서비스를 안정적으로 24시간 가동하고 보안을 유지하기 위한 백엔드 중심의 직무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 </a:t>
            </a:r>
            <a:r>
              <a:rPr b="1" lang="ko" sz="1100">
                <a:solidFill>
                  <a:schemeClr val="dk1"/>
                </a:solidFill>
              </a:rPr>
              <a:t>- </a:t>
            </a:r>
            <a:r>
              <a:rPr b="1" lang="ko" sz="1100">
                <a:solidFill>
                  <a:schemeClr val="dk1"/>
                </a:solidFill>
              </a:rPr>
              <a:t>LLMOps / MLOps 엔지니어</a:t>
            </a:r>
            <a:r>
              <a:rPr lang="ko" sz="1100">
                <a:solidFill>
                  <a:schemeClr val="dk1"/>
                </a:solidFill>
              </a:rPr>
              <a:t>: 머신러닝 모델의 학습, 배포, 모니터링 파이프라인을 자동화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   AI 모델의 학습부터 배포, 모니터링까지의 전 과정을 자동화하는 시스템을 구축. AI 기술과 DevOps(개발·운영) 역량이 동시에 필요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   컨테이너 &amp; 오케스트레이션, ML/LLM 파이프라인 &amp; 워크플로우, 클라우드 및 인프라, 버전 관리 및 CI/CD 등이 핵심 기술 스택으로 요구됨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 </a:t>
            </a:r>
            <a:r>
              <a:rPr b="1" lang="ko" sz="1100">
                <a:solidFill>
                  <a:schemeClr val="dk1"/>
                </a:solidFill>
              </a:rPr>
              <a:t>- </a:t>
            </a:r>
            <a:r>
              <a:rPr b="1" lang="ko" sz="1100">
                <a:solidFill>
                  <a:schemeClr val="dk1"/>
                </a:solidFill>
              </a:rPr>
              <a:t>AI 인프라 엔지니어</a:t>
            </a:r>
            <a:r>
              <a:rPr lang="ko" sz="1100">
                <a:solidFill>
                  <a:schemeClr val="dk1"/>
                </a:solidFill>
              </a:rPr>
              <a:t>: 인공지능 모델을 학습시키고 대규모로 서비스하기 위한 하드웨어와 소프트웨어 환경을 설계, 구축, 운영하는 전문가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   AI 학습 및 추론에는 필요한 막대한 컴퓨팅 파워를 위해 클라우드(AWS, GCP 등) 및 온프레미스 서버 인프라를 최적화하여 비용과 성능을 관리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 </a:t>
            </a:r>
            <a:r>
              <a:rPr b="1" lang="ko" sz="1100">
                <a:solidFill>
                  <a:schemeClr val="dk1"/>
                </a:solidFill>
              </a:rPr>
              <a:t>- </a:t>
            </a:r>
            <a:r>
              <a:rPr b="1" lang="ko" sz="1100">
                <a:solidFill>
                  <a:schemeClr val="dk1"/>
                </a:solidFill>
              </a:rPr>
              <a:t>AI 보안 전문가</a:t>
            </a:r>
            <a:r>
              <a:rPr lang="ko" sz="1100">
                <a:solidFill>
                  <a:schemeClr val="dk1"/>
                </a:solidFill>
              </a:rPr>
              <a:t>: AI 취약점 진단 및 방어, 안전한 설계 및 구축, 실시간 모니터링 및 대응, 데이터 및 윤리 검증 직무 수행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   AI 모델을 타깃으로 하는 해킹(적대적 공격)을 방어하고, AI 서비스 내의 데이터 유출이나 취약점을 분석·방어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현재 AI 분야의 주요 취업 직무와 직종 4</a:t>
            </a:r>
            <a:endParaRPr b="1" sz="355">
              <a:solidFill>
                <a:schemeClr val="dk2"/>
              </a:solidFill>
            </a:endParaRPr>
          </a:p>
        </p:txBody>
      </p:sp>
      <p:cxnSp>
        <p:nvCxnSpPr>
          <p:cNvPr id="125" name="Google Shape;125;p23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23"/>
          <p:cNvSpPr txBox="1"/>
          <p:nvPr/>
        </p:nvSpPr>
        <p:spPr>
          <a:xfrm>
            <a:off x="343450" y="980375"/>
            <a:ext cx="8471700" cy="40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25" lIns="65450" spcFirstLastPara="1" rIns="65450" wrap="square" tIns="327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300">
                <a:solidFill>
                  <a:schemeClr val="dk1"/>
                </a:solidFill>
              </a:rPr>
              <a:t>4. 비즈니스 및 UX / 기획 (비전공자 진출 활발)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코딩 능력이 다소 부족하더라도 산업 도메인 지식이나 기획력, 소통 능력을 바탕으로 활약할 수 있는 직무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 </a:t>
            </a:r>
            <a:r>
              <a:rPr b="1" lang="ko" sz="1100">
                <a:solidFill>
                  <a:schemeClr val="dk1"/>
                </a:solidFill>
              </a:rPr>
              <a:t>- </a:t>
            </a:r>
            <a:r>
              <a:rPr b="1" lang="ko" sz="1100">
                <a:solidFill>
                  <a:schemeClr val="dk1"/>
                </a:solidFill>
              </a:rPr>
              <a:t>AI 서비스 기획자 / PM (Product Manager)</a:t>
            </a:r>
            <a:r>
              <a:rPr lang="ko" sz="1100">
                <a:solidFill>
                  <a:schemeClr val="dk1"/>
                </a:solidFill>
              </a:rPr>
              <a:t>: 시장의 요구를 파악해 AI 기술 기반의 앱이나 에이전트 서비스를 기획하고 개발 과정을 조율.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   단순히 제품의 요구사항을 정의하는 수준을 넘어, 데이터와 모델의 특성을 이해하고 이를 기반으로 사용자 가치를 설계하는 전략가. </a:t>
            </a:r>
            <a:endParaRPr sz="1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   기존의 서비스 기획자가 비즈니스 모델과 사용자 경험(UX)에 집중했다면, AI 기획자는 인공지능 모델의 성능을 비즈니스 성과로 연결하는 '가교' 역할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 -</a:t>
            </a:r>
            <a:r>
              <a:rPr b="1" lang="ko" sz="1100">
                <a:solidFill>
                  <a:schemeClr val="dk1"/>
                </a:solidFill>
              </a:rPr>
              <a:t> 프롬프트 엔지니어 (Prompt Engineer)</a:t>
            </a:r>
            <a:r>
              <a:rPr lang="ko" sz="1100">
                <a:solidFill>
                  <a:schemeClr val="dk1"/>
                </a:solidFill>
              </a:rPr>
              <a:t>:  GenAI가 원하는 결과물을 정확하고 일관되게 생성하도록 최적의 입력(프롬프트)을 설계하고 조정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   AI 에이전트나 서비스가 최적의 답변을 낼 수 있도록 생성형 AI 모델에 입력할 명령어(프롬프트)를 설계하고 컨텍스트를 제어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 </a:t>
            </a:r>
            <a:r>
              <a:rPr b="1" lang="ko" sz="1100">
                <a:solidFill>
                  <a:schemeClr val="dk1"/>
                </a:solidFill>
              </a:rPr>
              <a:t>- </a:t>
            </a:r>
            <a:r>
              <a:rPr b="1" lang="ko" sz="1100">
                <a:solidFill>
                  <a:schemeClr val="dk1"/>
                </a:solidFill>
              </a:rPr>
              <a:t>AI 윤리 / 거버넌스 전문가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   AI 모델이 유해하거나 편향된 답변을 생성하지 않도록 모니터링하고, 개인정보 보호 및 규제 준수 여부를 검토하는 윤리 체계를 설계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 </a:t>
            </a:r>
            <a:r>
              <a:rPr b="1" lang="ko" sz="1100">
                <a:solidFill>
                  <a:schemeClr val="dk1"/>
                </a:solidFill>
              </a:rPr>
              <a:t>- </a:t>
            </a:r>
            <a:r>
              <a:rPr b="1" lang="ko" sz="1100">
                <a:solidFill>
                  <a:schemeClr val="dk1"/>
                </a:solidFill>
              </a:rPr>
              <a:t>AI UX 디자이너 / 대화 디자이너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   인간과 AI가 자연스럽게 상호작용할 수 있도록 인터페이스를 디자인하거나, AI 챗봇이 구사할 페르소나 및 대화 시나리오를 설계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현재 AI 분야의 주요 취업 직무와 직종 5</a:t>
            </a:r>
            <a:endParaRPr b="1" sz="355">
              <a:solidFill>
                <a:schemeClr val="dk2"/>
              </a:solidFill>
            </a:endParaRPr>
          </a:p>
        </p:txBody>
      </p:sp>
      <p:cxnSp>
        <p:nvCxnSpPr>
          <p:cNvPr id="132" name="Google Shape;132;p24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24"/>
          <p:cNvSpPr txBox="1"/>
          <p:nvPr/>
        </p:nvSpPr>
        <p:spPr>
          <a:xfrm>
            <a:off x="343450" y="980375"/>
            <a:ext cx="8471700" cy="40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25" lIns="65450" spcFirstLastPara="1" rIns="65450" wrap="square" tIns="327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dk1"/>
                </a:solidFill>
              </a:rPr>
              <a:t>5. AI 융합 사무 직무    </a:t>
            </a:r>
            <a:r>
              <a:rPr lang="ko" sz="1100">
                <a:solidFill>
                  <a:schemeClr val="dk1"/>
                </a:solidFill>
              </a:rPr>
              <a:t>일반 사무에 AI 기술을 융합하여 업무를 혁신하는 직무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 </a:t>
            </a:r>
            <a:r>
              <a:rPr b="1" lang="ko" sz="1100">
                <a:solidFill>
                  <a:schemeClr val="dk1"/>
                </a:solidFill>
              </a:rPr>
              <a:t>- AI 재무 분석가 / AI 파이낸셜 애널리스트 (AI Financial Analyst)</a:t>
            </a:r>
            <a:r>
              <a:rPr lang="ko" sz="1100">
                <a:solidFill>
                  <a:schemeClr val="dk1"/>
                </a:solidFill>
              </a:rPr>
              <a:t>: AI를 활용해 대규모 재무 데이터를 세분화하여 분석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   미래 매출 및 비용을 예측(Predictive Analytics). 이상 거래나 사기 징후(Fraud)를 실시간 감지하는 AI 시스템을 운용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 </a:t>
            </a:r>
            <a:r>
              <a:rPr b="1" lang="ko" sz="1100">
                <a:solidFill>
                  <a:schemeClr val="dk1"/>
                </a:solidFill>
              </a:rPr>
              <a:t>- HR 데이터 사이언티스트 / AI HR 매니저</a:t>
            </a:r>
            <a:r>
              <a:rPr lang="ko" sz="1100">
                <a:solidFill>
                  <a:schemeClr val="dk1"/>
                </a:solidFill>
              </a:rPr>
              <a:t>: 채용 과정에서 AI 이력서 스크리닝 시스템을 관리,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   직원들의 몰입도나 퇴사 확률을 예측하는 모델을 인사 전략에 활용. 사내 챗봇을 설계하여 반복적인 총무 질의응답을 자동화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 - 그로스 마케터 (Growth Marketer) / AI 콘텐츠 전략가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   생성형 AI를 활용해 맞춤형 카피라이팅과 광고 이미지를 대량 생산하고, AI 기반 고객 데이터 플랫폼(CDP)을 통해 실시간 타겟팅 광고 효율을 최적화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 </a:t>
            </a:r>
            <a:r>
              <a:rPr b="1" lang="ko" sz="1100">
                <a:solidFill>
                  <a:schemeClr val="dk1"/>
                </a:solidFill>
              </a:rPr>
              <a:t>- 업무 자동화 전문가 / RPA 엔지니어 (Robotic Process Automation Specialist)</a:t>
            </a:r>
            <a:r>
              <a:rPr lang="ko" sz="1100">
                <a:solidFill>
                  <a:schemeClr val="dk1"/>
                </a:solidFill>
              </a:rPr>
              <a:t>: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   재무 증빙 처리, 총무 자산 관리, 데이터 입력 등 사람이 반복적으로 하던 사무 업무를 AI와 RPA를 결합해 자동화 시스템을 설계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 </a:t>
            </a:r>
            <a:r>
              <a:rPr b="1" lang="ko" sz="1100">
                <a:solidFill>
                  <a:schemeClr val="dk1"/>
                </a:solidFill>
              </a:rPr>
              <a:t>- 비즈니스 오퍼레이션 매니저 (BizOps Manager): 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1"/>
                </a:solidFill>
              </a:rPr>
              <a:t>   생성형 AI 도구(Copilot, ChatGPT, Gemini 등)를 사내 업무 프로세스에 어떻게 도입하고 최적화할지 기획하고, 직원들을 교육하는 혁신 담당자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AI </a:t>
            </a:r>
            <a:r>
              <a:rPr b="1" lang="ko"/>
              <a:t>라이브러리</a:t>
            </a:r>
            <a:endParaRPr b="1" sz="355">
              <a:solidFill>
                <a:schemeClr val="dk2"/>
              </a:solidFill>
            </a:endParaRPr>
          </a:p>
        </p:txBody>
      </p:sp>
      <p:cxnSp>
        <p:nvCxnSpPr>
          <p:cNvPr id="139" name="Google Shape;139;p25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25"/>
          <p:cNvSpPr txBox="1"/>
          <p:nvPr/>
        </p:nvSpPr>
        <p:spPr>
          <a:xfrm>
            <a:off x="343450" y="980375"/>
            <a:ext cx="8471700" cy="40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25" lIns="65450" spcFirstLastPara="1" rIns="65450" wrap="square" tIns="327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ko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서비스 개발을 위한 필수 기능을 제공하는 </a:t>
            </a:r>
            <a:r>
              <a:rPr b="1" lang="ko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사전 작성된 코드 모음</a:t>
            </a:r>
            <a:endParaRPr b="1"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ko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머신러닝, 딥러닝, 자연어 처리, 컴퓨터 비전등 AI 영역에 사용되는 다양한 알고리즘과 수학적 모델을 제공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ko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개발자는 이러한 라이브러리를 활용하여 </a:t>
            </a:r>
            <a:r>
              <a:rPr b="1" lang="ko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복잡한 데이터분석 및 예측모델을 고수준의 수학적 지식없이 효율적으로 구현</a:t>
            </a:r>
            <a:r>
              <a:rPr lang="ko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할 수 있음.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ko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데이터전처리, 모델 트레이닝 및 추론과 같은 작업을 위한 표준화된 방법을 제공하여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ko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ko" sz="1600" u="sng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다양한 문제를 해결하는 AI 서비스</a:t>
            </a:r>
            <a:r>
              <a:rPr lang="ko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만들 수 있도록 함 </a:t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296450" y="323875"/>
            <a:ext cx="3521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AI 라이브러리 </a:t>
            </a:r>
            <a:r>
              <a:rPr b="1" lang="ko"/>
              <a:t>종류</a:t>
            </a:r>
            <a:endParaRPr b="1" sz="355">
              <a:solidFill>
                <a:schemeClr val="dk2"/>
              </a:solidFill>
            </a:endParaRPr>
          </a:p>
        </p:txBody>
      </p:sp>
      <p:pic>
        <p:nvPicPr>
          <p:cNvPr id="146" name="Google Shape;146;p26" title="image-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3299" y="126450"/>
            <a:ext cx="4526050" cy="489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6"/>
          <p:cNvSpPr txBox="1"/>
          <p:nvPr/>
        </p:nvSpPr>
        <p:spPr>
          <a:xfrm>
            <a:off x="211400" y="896575"/>
            <a:ext cx="3691500" cy="412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개발자가 </a:t>
            </a:r>
            <a:r>
              <a:rPr lang="ko">
                <a:latin typeface="Malgun Gothic"/>
                <a:ea typeface="Malgun Gothic"/>
                <a:cs typeface="Malgun Gothic"/>
                <a:sym typeface="Malgun Gothic"/>
              </a:rPr>
              <a:t>AI</a:t>
            </a:r>
            <a:r>
              <a:rPr lang="ko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모델 및 서비스를 손쉽게 활용할 수 있도록 제공되는 라이브러리</a:t>
            </a:r>
            <a:endParaRPr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ko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데이터분석 및 시각화: Pandas, Numpy, Matplotlib</a:t>
            </a:r>
            <a:endParaRPr b="1" sz="10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ko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머신러닝 : scikit-learn</a:t>
            </a:r>
            <a:endParaRPr b="1" sz="10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딥러닝 : Tensorflow, Pytorch </a:t>
            </a:r>
            <a:endParaRPr b="1" sz="600"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라이브러리들은 머신러닝 및 딥러닝 서비스를 개발자에게 제공하여,</a:t>
            </a:r>
            <a:endParaRPr sz="1000"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복잡한 머신러닝 모델의 구현과 유지보수를 단순화하고 빠르게 적용이 가능</a:t>
            </a:r>
            <a:endParaRPr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딥러닝 심화과정 선수학습 요구사항 </a:t>
            </a:r>
            <a:endParaRPr b="1" sz="355">
              <a:solidFill>
                <a:schemeClr val="dk2"/>
              </a:solidFill>
            </a:endParaRPr>
          </a:p>
        </p:txBody>
      </p:sp>
      <p:cxnSp>
        <p:nvCxnSpPr>
          <p:cNvPr id="153" name="Google Shape;153;p27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54" name="Google Shape;154;p27"/>
          <p:cNvGraphicFramePr/>
          <p:nvPr/>
        </p:nvGraphicFramePr>
        <p:xfrm>
          <a:off x="311706" y="8377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{81C3D085-2793-44BA-B3B0-69567A9B50BE}</a:tableStyleId>
              </a:tblPr>
              <a:tblGrid>
                <a:gridCol w="1214425"/>
                <a:gridCol w="4196125"/>
                <a:gridCol w="3110050"/>
              </a:tblGrid>
              <a:tr h="294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영역</a:t>
                      </a:r>
                      <a:endParaRPr b="1" sz="9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선수학습 내용</a:t>
                      </a:r>
                      <a:endParaRPr b="1" sz="9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요구 수준</a:t>
                      </a:r>
                      <a:endParaRPr b="1" sz="9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Python 프로그래밍</a:t>
                      </a:r>
                      <a:endParaRPr b="1" sz="9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변수, 자료형, 제어문, 함수, 리스트, 딕셔너리, 함수, </a:t>
                      </a:r>
                      <a:r>
                        <a:rPr lang="ko" sz="900">
                          <a:solidFill>
                            <a:schemeClr val="dk1"/>
                          </a:solidFill>
                        </a:rPr>
                        <a:t>클래스와 객체, 모듈</a:t>
                      </a:r>
                      <a:endParaRPr sz="9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코드를 직접 작성하고 수정할 수 있어야 함</a:t>
                      </a:r>
                      <a:endParaRPr sz="9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NumPy</a:t>
                      </a:r>
                      <a:endParaRPr b="1" sz="9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ndarray, 인덱싱, 슬라이싱, reshape, broadcasting, 행렬 연산</a:t>
                      </a:r>
                      <a:endParaRPr sz="9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배열의 형태와 연산 결과를 이해</a:t>
                      </a:r>
                      <a:endParaRPr sz="9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Pandas</a:t>
                      </a:r>
                      <a:endParaRPr b="1" sz="9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CSV 읽기, DataFrame, 결측치 처리, 데이터 선택·집계</a:t>
                      </a:r>
                      <a:endParaRPr sz="9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실제 데이터 전처리 가능</a:t>
                      </a:r>
                      <a:endParaRPr sz="9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Matplotlib</a:t>
                      </a:r>
                      <a:endParaRPr b="1" sz="9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선 그래프, 산점도, 히스토그램, 이미지 표시</a:t>
                      </a:r>
                      <a:endParaRPr sz="9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데이터와 예측 결과 시각화 가능</a:t>
                      </a:r>
                      <a:endParaRPr sz="9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머신러닝 기초</a:t>
                      </a:r>
                      <a:endParaRPr b="1" sz="9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지도학습, 비지도학습, 회귀, 분류, 학습과 예측, </a:t>
                      </a:r>
                      <a:r>
                        <a:rPr lang="ko" sz="900">
                          <a:solidFill>
                            <a:schemeClr val="dk1"/>
                          </a:solidFill>
                        </a:rPr>
                        <a:t>Scikit-learn, 전처리</a:t>
                      </a:r>
                      <a:endParaRPr sz="9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기본적인 ML 학습 흐름 이해, </a:t>
                      </a:r>
                      <a:r>
                        <a:rPr lang="ko" sz="900">
                          <a:solidFill>
                            <a:schemeClr val="dk1"/>
                          </a:solidFill>
                        </a:rPr>
                        <a:t>간단한 ML 모델 구현 경험</a:t>
                      </a:r>
                      <a:endParaRPr sz="9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모델 평가</a:t>
                      </a:r>
                      <a:endParaRPr b="1" sz="9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MAE, RMSE, R², Accuracy, Precision, Recall, F1</a:t>
                      </a:r>
                      <a:endParaRPr sz="9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지표의 의미와 사용 목적 이해</a:t>
                      </a:r>
                      <a:endParaRPr sz="9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개발환경 구축</a:t>
                      </a:r>
                      <a:endParaRPr b="1" sz="9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Visual Studio Code, Google Colab, Jupyter Notebook, pip 설치</a:t>
                      </a:r>
                      <a:endParaRPr sz="9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실습 코드를 독립적으로 실행 가능</a:t>
                      </a:r>
                      <a:endParaRPr sz="9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LLM API 활용</a:t>
                      </a:r>
                      <a:endParaRPr b="1" sz="9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OpenAI API 등 LLM API 호출, Prompt 설계, 응답 처리</a:t>
                      </a:r>
                      <a:endParaRPr sz="9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LLM API를 이용해 AI 기능을 구현할 수 있어야 함</a:t>
                      </a:r>
                      <a:endParaRPr sz="9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LangChain</a:t>
                      </a:r>
                      <a:endParaRPr b="1" sz="9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PromptTemplate, Chain, 모델 연동 등 기본 활용</a:t>
                      </a:r>
                      <a:endParaRPr sz="9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LangChain을 활용한 LLM 애플리케이션 구현 경험</a:t>
                      </a:r>
                      <a:endParaRPr sz="9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AI 서비스 개발</a:t>
                      </a:r>
                      <a:endParaRPr b="1" sz="9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LLM API와 LangChain을 활용한 챗봇 또는 React 기반 AI 웹앱 구현</a:t>
                      </a:r>
                      <a:endParaRPr sz="9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챗봇 또는 AI 웹앱을 직접 개발한 경험</a:t>
                      </a:r>
                      <a:endParaRPr sz="9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API / 웹 기초</a:t>
                      </a:r>
                      <a:endParaRPr b="1" sz="9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HTTP, REST API, JSON, 환경변수, API Key 관리</a:t>
                      </a:r>
                      <a:endParaRPr sz="9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API 연동 및 기본적인 웹 서비스 구조 이해</a:t>
                      </a:r>
                      <a:endParaRPr sz="9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/>
                        <a:t>Git / GitHub</a:t>
                      </a:r>
                      <a:endParaRPr b="1" sz="9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Git 기본 명령어, Repository 관리, Commit, Push, Pull</a:t>
                      </a:r>
                      <a:endParaRPr sz="9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프로젝트 소스코드를 관리하고 협업에 활용 가능</a:t>
                      </a:r>
                      <a:endParaRPr sz="9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심화과정 수업 전 리마인드 학습</a:t>
            </a:r>
            <a:endParaRPr b="1" sz="355">
              <a:solidFill>
                <a:schemeClr val="dk2"/>
              </a:solidFill>
            </a:endParaRPr>
          </a:p>
        </p:txBody>
      </p:sp>
      <p:cxnSp>
        <p:nvCxnSpPr>
          <p:cNvPr id="160" name="Google Shape;160;p28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28"/>
          <p:cNvSpPr txBox="1"/>
          <p:nvPr/>
        </p:nvSpPr>
        <p:spPr>
          <a:xfrm>
            <a:off x="343450" y="980375"/>
            <a:ext cx="8471700" cy="40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25" lIns="65450" spcFirstLastPara="1" rIns="65450" wrap="square" tIns="327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1. </a:t>
            </a:r>
            <a:r>
              <a:rPr lang="ko"/>
              <a:t>파이썬 프로그래밍   </a:t>
            </a:r>
            <a:r>
              <a:rPr lang="ko" sz="1100">
                <a:solidFill>
                  <a:srgbClr val="666666"/>
                </a:solidFill>
              </a:rPr>
              <a:t>[ visual studio code ]</a:t>
            </a:r>
            <a:endParaRPr sz="11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2. LLM API </a:t>
            </a:r>
            <a:r>
              <a:rPr lang="ko"/>
              <a:t>연동 - 챗봇 구현, </a:t>
            </a:r>
            <a:r>
              <a:rPr lang="ko">
                <a:solidFill>
                  <a:schemeClr val="dk1"/>
                </a:solidFill>
              </a:rPr>
              <a:t>LangChain, RAG    </a:t>
            </a:r>
            <a:r>
              <a:rPr lang="ko" sz="1100">
                <a:solidFill>
                  <a:srgbClr val="666666"/>
                </a:solidFill>
              </a:rPr>
              <a:t>[ visual studio code ]</a:t>
            </a:r>
            <a:r>
              <a:rPr lang="ko"/>
              <a:t> 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3</a:t>
            </a:r>
            <a:r>
              <a:rPr lang="ko">
                <a:solidFill>
                  <a:schemeClr val="dk1"/>
                </a:solidFill>
              </a:rPr>
              <a:t>. 데이터분석 및 시각화   </a:t>
            </a:r>
            <a:r>
              <a:rPr lang="ko" sz="1100">
                <a:solidFill>
                  <a:srgbClr val="666666"/>
                </a:solidFill>
              </a:rPr>
              <a:t>[ Jupyter Notebook ]</a:t>
            </a:r>
            <a:endParaRPr sz="11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4</a:t>
            </a:r>
            <a:r>
              <a:rPr lang="ko"/>
              <a:t>. </a:t>
            </a:r>
            <a:r>
              <a:rPr lang="ko"/>
              <a:t>머신러닝 회귀 및 분류 모델 구현 및 성능평가</a:t>
            </a:r>
            <a:r>
              <a:rPr lang="ko">
                <a:solidFill>
                  <a:schemeClr val="dk1"/>
                </a:solidFill>
              </a:rPr>
              <a:t>   </a:t>
            </a:r>
            <a:r>
              <a:rPr lang="ko" sz="1100">
                <a:solidFill>
                  <a:srgbClr val="666666"/>
                </a:solidFill>
              </a:rPr>
              <a:t>[ google colab ]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5. Web </a:t>
            </a:r>
            <a:r>
              <a:rPr lang="ko"/>
              <a:t>기초, </a:t>
            </a:r>
            <a:r>
              <a:rPr lang="ko">
                <a:solidFill>
                  <a:schemeClr val="dk1"/>
                </a:solidFill>
              </a:rPr>
              <a:t>Fast API REST API  </a:t>
            </a:r>
            <a:r>
              <a:rPr lang="ko" sz="1100">
                <a:solidFill>
                  <a:srgbClr val="666666"/>
                </a:solidFill>
              </a:rPr>
              <a:t>[ visual studio code ]</a:t>
            </a:r>
            <a:r>
              <a:rPr lang="ko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18"/>
              <a:buNone/>
            </a:pPr>
            <a:r>
              <a:rPr b="1" lang="ko"/>
              <a:t>개발 환경 구축</a:t>
            </a:r>
            <a:endParaRPr b="1" sz="355">
              <a:solidFill>
                <a:schemeClr val="dk2"/>
              </a:solidFill>
            </a:endParaRPr>
          </a:p>
        </p:txBody>
      </p:sp>
      <p:cxnSp>
        <p:nvCxnSpPr>
          <p:cNvPr id="167" name="Google Shape;167;p29"/>
          <p:cNvCxnSpPr/>
          <p:nvPr/>
        </p:nvCxnSpPr>
        <p:spPr>
          <a:xfrm flipH="1" rot="10800000">
            <a:off x="343450" y="850525"/>
            <a:ext cx="84717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29"/>
          <p:cNvSpPr txBox="1"/>
          <p:nvPr/>
        </p:nvSpPr>
        <p:spPr>
          <a:xfrm>
            <a:off x="343450" y="980375"/>
            <a:ext cx="8471700" cy="40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25" lIns="65450" spcFirstLastPara="1" rIns="65450" wrap="square" tIns="327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1. Chrome 브라우저 설치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2. Python 설치, </a:t>
            </a:r>
            <a:r>
              <a:rPr lang="ko">
                <a:solidFill>
                  <a:schemeClr val="dk1"/>
                </a:solidFill>
              </a:rPr>
              <a:t>가상환경 venv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3. Visual Studio Code 설치 [ 확장프로그램 : python, open in browser, Live Server ]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4. Git 설치, GitHub 계정 (생성) 연동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5</a:t>
            </a:r>
            <a:r>
              <a:rPr lang="ko">
                <a:solidFill>
                  <a:schemeClr val="dk1"/>
                </a:solidFill>
              </a:rPr>
              <a:t>. Jupyter Notebook, (Anaconda or Miniconda)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6. Google 계정, Google Colab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